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788439a7842dc" /><Relationship Type="http://schemas.openxmlformats.org/officeDocument/2006/relationships/extended-properties" Target="/docProps/app.xml" Id="Rf91fbd2b9f104e53" /><Relationship Type="http://schemas.openxmlformats.org/officeDocument/2006/relationships/officeDocument" Target="/ppt/presentation.xml" Id="R548f3afd8ce745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c4cecc757a499c"/>
  </p:sldMasterIdLst>
  <p:notesMasterIdLst>
    <p:notesMasterId xmlns:r="http://schemas.openxmlformats.org/officeDocument/2006/relationships" r:id="Rf7e2a404d7ea4d4b"/>
  </p:notesMasterIdLst>
  <p:sldIdLst>
    <p:sldId xmlns:r="http://schemas.openxmlformats.org/officeDocument/2006/relationships" id="256" r:id="R06d2b28e419d4959"/>
    <p:sldId xmlns:r="http://schemas.openxmlformats.org/officeDocument/2006/relationships" id="257" r:id="Ra1834950370246d9"/>
    <p:sldId xmlns:r="http://schemas.openxmlformats.org/officeDocument/2006/relationships" id="258" r:id="R1d292ffb0f4e42e9"/>
    <p:sldId xmlns:r="http://schemas.openxmlformats.org/officeDocument/2006/relationships" id="259" r:id="R889168e7412d4c9e"/>
    <p:sldId xmlns:r="http://schemas.openxmlformats.org/officeDocument/2006/relationships" id="260" r:id="R9e5b47c203134ae0"/>
    <p:sldId xmlns:r="http://schemas.openxmlformats.org/officeDocument/2006/relationships" id="261" r:id="Rd4705d0e594b4563"/>
    <p:sldId xmlns:r="http://schemas.openxmlformats.org/officeDocument/2006/relationships" id="262" r:id="Rb21774b244644aab"/>
    <p:sldId xmlns:r="http://schemas.openxmlformats.org/officeDocument/2006/relationships" id="263" r:id="R293c42a1c05f46b0"/>
    <p:sldId xmlns:r="http://schemas.openxmlformats.org/officeDocument/2006/relationships" id="264" r:id="R99afbef08ef14fbf"/>
    <p:sldId xmlns:r="http://schemas.openxmlformats.org/officeDocument/2006/relationships" id="265" r:id="Rbca9a19ba0d245cd"/>
    <p:sldId xmlns:r="http://schemas.openxmlformats.org/officeDocument/2006/relationships" id="266" r:id="R487ddfbd00b542d5"/>
    <p:sldId xmlns:r="http://schemas.openxmlformats.org/officeDocument/2006/relationships" id="267" r:id="R98439cb643884d6c"/>
    <p:sldId xmlns:r="http://schemas.openxmlformats.org/officeDocument/2006/relationships" id="268" r:id="R3bf247437d364120"/>
    <p:sldId xmlns:r="http://schemas.openxmlformats.org/officeDocument/2006/relationships" id="269" r:id="Rb10d535afd274919"/>
    <p:sldId xmlns:r="http://schemas.openxmlformats.org/officeDocument/2006/relationships" id="270" r:id="R80fc33aae0004902"/>
    <p:sldId xmlns:r="http://schemas.openxmlformats.org/officeDocument/2006/relationships" id="271" r:id="Ra899d1c98e2749c5"/>
    <p:sldId xmlns:r="http://schemas.openxmlformats.org/officeDocument/2006/relationships" id="272" r:id="Rf8168781e41d447d"/>
    <p:sldId xmlns:r="http://schemas.openxmlformats.org/officeDocument/2006/relationships" id="273" r:id="R9b9417fce4774f6c"/>
    <p:sldId xmlns:r="http://schemas.openxmlformats.org/officeDocument/2006/relationships" id="274" r:id="R489d4e334bce47b7"/>
    <p:sldId xmlns:r="http://schemas.openxmlformats.org/officeDocument/2006/relationships" id="275" r:id="R9146c800f9a641be"/>
    <p:sldId xmlns:r="http://schemas.openxmlformats.org/officeDocument/2006/relationships" id="276" r:id="Ra503d5d5b1954d9a"/>
    <p:sldId xmlns:r="http://schemas.openxmlformats.org/officeDocument/2006/relationships" id="277" r:id="R2948831e2a8c4729"/>
    <p:sldId xmlns:r="http://schemas.openxmlformats.org/officeDocument/2006/relationships" id="278" r:id="R9676a0b7805d4e10"/>
    <p:sldId xmlns:r="http://schemas.openxmlformats.org/officeDocument/2006/relationships" id="279" r:id="R4a0a6b8622a144c8"/>
    <p:sldId xmlns:r="http://schemas.openxmlformats.org/officeDocument/2006/relationships" id="280" r:id="R2e9c941b47b24483"/>
    <p:sldId xmlns:r="http://schemas.openxmlformats.org/officeDocument/2006/relationships" id="281" r:id="R1924f226541d4c39"/>
    <p:sldId xmlns:r="http://schemas.openxmlformats.org/officeDocument/2006/relationships" id="282" r:id="R0189680a14e94ed3"/>
    <p:sldId xmlns:r="http://schemas.openxmlformats.org/officeDocument/2006/relationships" id="283" r:id="Rf82ea10a5d384665"/>
    <p:sldId xmlns:r="http://schemas.openxmlformats.org/officeDocument/2006/relationships" id="284" r:id="R05436c502eea426f"/>
    <p:sldId xmlns:r="http://schemas.openxmlformats.org/officeDocument/2006/relationships" id="285" r:id="R75dd2a7ad6564649"/>
    <p:sldId xmlns:r="http://schemas.openxmlformats.org/officeDocument/2006/relationships" id="286" r:id="Rd244022192094c5a"/>
    <p:sldId xmlns:r="http://schemas.openxmlformats.org/officeDocument/2006/relationships" id="287" r:id="R44ff572f341a4bb5"/>
    <p:sldId xmlns:r="http://schemas.openxmlformats.org/officeDocument/2006/relationships" id="288" r:id="Rbe29b11b4393483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3b480903cb4009" /><Relationship Type="http://schemas.openxmlformats.org/officeDocument/2006/relationships/slideMaster" Target="/ppt/slideMasters/slideMaster1.xml" Id="R31c4cecc757a499c" /><Relationship Type="http://schemas.openxmlformats.org/officeDocument/2006/relationships/notesMaster" Target="/ppt/notesMasters/notesMaster1.xml" Id="Rf7e2a404d7ea4d4b" /><Relationship Type="http://schemas.openxmlformats.org/officeDocument/2006/relationships/presProps" Target="/ppt/presProps.xml" Id="R8297cb93ace041bc" /><Relationship Type="http://schemas.openxmlformats.org/officeDocument/2006/relationships/tableStyles" Target="/ppt/tableStyles.xml" Id="Rebc9ab1cc57d46b7" /><Relationship Type="http://schemas.openxmlformats.org/officeDocument/2006/relationships/slide" Target="/ppt/slides/slide1.xml" Id="R06d2b28e419d4959" /><Relationship Type="http://schemas.openxmlformats.org/officeDocument/2006/relationships/slide" Target="/ppt/slides/slide2.xml" Id="Ra1834950370246d9" /><Relationship Type="http://schemas.openxmlformats.org/officeDocument/2006/relationships/slide" Target="/ppt/slides/slide3.xml" Id="R1d292ffb0f4e42e9" /><Relationship Type="http://schemas.openxmlformats.org/officeDocument/2006/relationships/slide" Target="/ppt/slides/slide4.xml" Id="R889168e7412d4c9e" /><Relationship Type="http://schemas.openxmlformats.org/officeDocument/2006/relationships/slide" Target="/ppt/slides/slide5.xml" Id="R9e5b47c203134ae0" /><Relationship Type="http://schemas.openxmlformats.org/officeDocument/2006/relationships/slide" Target="/ppt/slides/slide6.xml" Id="Rd4705d0e594b4563" /><Relationship Type="http://schemas.openxmlformats.org/officeDocument/2006/relationships/slide" Target="/ppt/slides/slide7.xml" Id="Rb21774b244644aab" /><Relationship Type="http://schemas.openxmlformats.org/officeDocument/2006/relationships/slide" Target="/ppt/slides/slide8.xml" Id="R293c42a1c05f46b0" /><Relationship Type="http://schemas.openxmlformats.org/officeDocument/2006/relationships/slide" Target="/ppt/slides/slide9.xml" Id="R99afbef08ef14fbf" /><Relationship Type="http://schemas.openxmlformats.org/officeDocument/2006/relationships/slide" Target="/ppt/slides/slide10.xml" Id="Rbca9a19ba0d245cd" /><Relationship Type="http://schemas.openxmlformats.org/officeDocument/2006/relationships/slide" Target="/ppt/slides/slide11.xml" Id="R487ddfbd00b542d5" /><Relationship Type="http://schemas.openxmlformats.org/officeDocument/2006/relationships/slide" Target="/ppt/slides/slide12.xml" Id="R98439cb643884d6c" /><Relationship Type="http://schemas.openxmlformats.org/officeDocument/2006/relationships/slide" Target="/ppt/slides/slide13.xml" Id="R3bf247437d364120" /><Relationship Type="http://schemas.openxmlformats.org/officeDocument/2006/relationships/slide" Target="/ppt/slides/slide14.xml" Id="Rb10d535afd274919" /><Relationship Type="http://schemas.openxmlformats.org/officeDocument/2006/relationships/slide" Target="/ppt/slides/slide15.xml" Id="R80fc33aae0004902" /><Relationship Type="http://schemas.openxmlformats.org/officeDocument/2006/relationships/slide" Target="/ppt/slides/slide16.xml" Id="Ra899d1c98e2749c5" /><Relationship Type="http://schemas.openxmlformats.org/officeDocument/2006/relationships/slide" Target="/ppt/slides/slide17.xml" Id="Rf8168781e41d447d" /><Relationship Type="http://schemas.openxmlformats.org/officeDocument/2006/relationships/slide" Target="/ppt/slides/slide18.xml" Id="R9b9417fce4774f6c" /><Relationship Type="http://schemas.openxmlformats.org/officeDocument/2006/relationships/slide" Target="/ppt/slides/slide19.xml" Id="R489d4e334bce47b7" /><Relationship Type="http://schemas.openxmlformats.org/officeDocument/2006/relationships/slide" Target="/ppt/slides/slide20.xml" Id="R9146c800f9a641be" /><Relationship Type="http://schemas.openxmlformats.org/officeDocument/2006/relationships/slide" Target="/ppt/slides/slide21.xml" Id="Ra503d5d5b1954d9a" /><Relationship Type="http://schemas.openxmlformats.org/officeDocument/2006/relationships/slide" Target="/ppt/slides/slide22.xml" Id="R2948831e2a8c4729" /><Relationship Type="http://schemas.openxmlformats.org/officeDocument/2006/relationships/slide" Target="/ppt/slides/slide23.xml" Id="R9676a0b7805d4e10" /><Relationship Type="http://schemas.openxmlformats.org/officeDocument/2006/relationships/slide" Target="/ppt/slides/slide24.xml" Id="R4a0a6b8622a144c8" /><Relationship Type="http://schemas.openxmlformats.org/officeDocument/2006/relationships/slide" Target="/ppt/slides/slide25.xml" Id="R2e9c941b47b24483" /><Relationship Type="http://schemas.openxmlformats.org/officeDocument/2006/relationships/slide" Target="/ppt/slides/slide26.xml" Id="R1924f226541d4c39" /><Relationship Type="http://schemas.openxmlformats.org/officeDocument/2006/relationships/slide" Target="/ppt/slides/slide27.xml" Id="R0189680a14e94ed3" /><Relationship Type="http://schemas.openxmlformats.org/officeDocument/2006/relationships/slide" Target="/ppt/slides/slide28.xml" Id="Rf82ea10a5d384665" /><Relationship Type="http://schemas.openxmlformats.org/officeDocument/2006/relationships/slide" Target="/ppt/slides/slide29.xml" Id="R05436c502eea426f" /><Relationship Type="http://schemas.openxmlformats.org/officeDocument/2006/relationships/slide" Target="/ppt/slides/slide30.xml" Id="R75dd2a7ad6564649" /><Relationship Type="http://schemas.openxmlformats.org/officeDocument/2006/relationships/slide" Target="/ppt/slides/slide31.xml" Id="Rd244022192094c5a" /><Relationship Type="http://schemas.openxmlformats.org/officeDocument/2006/relationships/slide" Target="/ppt/slides/slide32.xml" Id="R44ff572f341a4bb5" /><Relationship Type="http://schemas.openxmlformats.org/officeDocument/2006/relationships/slide" Target="/ppt/slides/slide33.xml" Id="Rbe29b11b439348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7009135d149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515002548d4aed" /><Relationship Type="http://schemas.openxmlformats.org/officeDocument/2006/relationships/notesMaster" Target="/ppt/notesMasters/notesMaster1.xml" Id="Rd9454be40a11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83d2997f364fd6" /><Relationship Type="http://schemas.openxmlformats.org/officeDocument/2006/relationships/notesMaster" Target="/ppt/notesMasters/notesMaster1.xml" Id="Re8273d75a6f24b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1eaec81fee4f07" /><Relationship Type="http://schemas.openxmlformats.org/officeDocument/2006/relationships/notesMaster" Target="/ppt/notesMasters/notesMaster1.xml" Id="Rc8fb043e67764c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c76da7b97b452c" /><Relationship Type="http://schemas.openxmlformats.org/officeDocument/2006/relationships/notesMaster" Target="/ppt/notesMasters/notesMaster1.xml" Id="R5c992593137748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72ed3540c48fb" /><Relationship Type="http://schemas.openxmlformats.org/officeDocument/2006/relationships/notesMaster" Target="/ppt/notesMasters/notesMaster1.xml" Id="R74b02a55adc949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81b7a274b742ab" /><Relationship Type="http://schemas.openxmlformats.org/officeDocument/2006/relationships/notesMaster" Target="/ppt/notesMasters/notesMaster1.xml" Id="R178b0171491c4a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b07bd402854b14" /><Relationship Type="http://schemas.openxmlformats.org/officeDocument/2006/relationships/notesMaster" Target="/ppt/notesMasters/notesMaster1.xml" Id="R807aec7dc13b4f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98bc2a1d0e4c39" /><Relationship Type="http://schemas.openxmlformats.org/officeDocument/2006/relationships/notesMaster" Target="/ppt/notesMasters/notesMaster1.xml" Id="R7d519a8f189545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a0dcebf6da459f" /><Relationship Type="http://schemas.openxmlformats.org/officeDocument/2006/relationships/notesMaster" Target="/ppt/notesMasters/notesMaster1.xml" Id="Ra290ce7649ce46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3a72fde5284195" /><Relationship Type="http://schemas.openxmlformats.org/officeDocument/2006/relationships/notesMaster" Target="/ppt/notesMasters/notesMaster1.xml" Id="R1276fff4260142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bc617fc9264ff3" /><Relationship Type="http://schemas.openxmlformats.org/officeDocument/2006/relationships/notesMaster" Target="/ppt/notesMasters/notesMaster1.xml" Id="Racc8da4a12b449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e095c8bfa746df" /><Relationship Type="http://schemas.openxmlformats.org/officeDocument/2006/relationships/notesMaster" Target="/ppt/notesMasters/notesMaster1.xml" Id="R05e0b0e3ff684e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a3fa9f8c264a15" /><Relationship Type="http://schemas.openxmlformats.org/officeDocument/2006/relationships/notesMaster" Target="/ppt/notesMasters/notesMaster1.xml" Id="Rf85fb8982a9c4b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7ff2dab5f64c40" /><Relationship Type="http://schemas.openxmlformats.org/officeDocument/2006/relationships/notesMaster" Target="/ppt/notesMasters/notesMaster1.xml" Id="Rcf5862fff7c44b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87ebe2e652457d" /><Relationship Type="http://schemas.openxmlformats.org/officeDocument/2006/relationships/notesMaster" Target="/ppt/notesMasters/notesMaster1.xml" Id="R8a953c366b5d4b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da4ff29a204342" /><Relationship Type="http://schemas.openxmlformats.org/officeDocument/2006/relationships/notesMaster" Target="/ppt/notesMasters/notesMaster1.xml" Id="R9dfd0277dd7044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e6645745784a09" /><Relationship Type="http://schemas.openxmlformats.org/officeDocument/2006/relationships/notesMaster" Target="/ppt/notesMasters/notesMaster1.xml" Id="R9b715ea6f9834c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4c74338e6441f9" /><Relationship Type="http://schemas.openxmlformats.org/officeDocument/2006/relationships/notesMaster" Target="/ppt/notesMasters/notesMaster1.xml" Id="R08e9853fe4af47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129a97d6de4fad" /><Relationship Type="http://schemas.openxmlformats.org/officeDocument/2006/relationships/notesMaster" Target="/ppt/notesMasters/notesMaster1.xml" Id="R8228c768f9424b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914aa46d564bd2" /><Relationship Type="http://schemas.openxmlformats.org/officeDocument/2006/relationships/notesMaster" Target="/ppt/notesMasters/notesMaster1.xml" Id="R151cda719a8744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bbc142873343a6" /><Relationship Type="http://schemas.openxmlformats.org/officeDocument/2006/relationships/notesMaster" Target="/ppt/notesMasters/notesMaster1.xml" Id="R60ffc574ba604b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ab66a037514f1b" /><Relationship Type="http://schemas.openxmlformats.org/officeDocument/2006/relationships/notesMaster" Target="/ppt/notesMasters/notesMaster1.xml" Id="Rc5d3fb1a2bd247f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08845ec0e746bf" /><Relationship Type="http://schemas.openxmlformats.org/officeDocument/2006/relationships/notesMaster" Target="/ppt/notesMasters/notesMaster1.xml" Id="R112004cae5084e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564b412032435c" /><Relationship Type="http://schemas.openxmlformats.org/officeDocument/2006/relationships/notesMaster" Target="/ppt/notesMasters/notesMaster1.xml" Id="R441e91a885a34d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ad5581072a4a39" /><Relationship Type="http://schemas.openxmlformats.org/officeDocument/2006/relationships/notesMaster" Target="/ppt/notesMasters/notesMaster1.xml" Id="Rf775f874dacc4c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b4889582394351" /><Relationship Type="http://schemas.openxmlformats.org/officeDocument/2006/relationships/notesMaster" Target="/ppt/notesMasters/notesMaster1.xml" Id="R376314a8480143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d7d85a5fe34291" /><Relationship Type="http://schemas.openxmlformats.org/officeDocument/2006/relationships/notesMaster" Target="/ppt/notesMasters/notesMaster1.xml" Id="R6c0d70c38d3241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3a5ee7c22346cb" /><Relationship Type="http://schemas.openxmlformats.org/officeDocument/2006/relationships/notesMaster" Target="/ppt/notesMasters/notesMaster1.xml" Id="Ra2381a6c7acb442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62b3a62bd34cf8" /><Relationship Type="http://schemas.openxmlformats.org/officeDocument/2006/relationships/notesMaster" Target="/ppt/notesMasters/notesMaster1.xml" Id="Ra680e470ab994e0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346f941a4a4197" /><Relationship Type="http://schemas.openxmlformats.org/officeDocument/2006/relationships/notesMaster" Target="/ppt/notesMasters/notesMaster1.xml" Id="Rf236a417d52f49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f36f9172a784189" /><Relationship Type="http://schemas.openxmlformats.org/officeDocument/2006/relationships/notesMaster" Target="/ppt/notesMasters/notesMaster1.xml" Id="Rd26f2a7bb5664ee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cce00b08c2b44ac" /><Relationship Type="http://schemas.openxmlformats.org/officeDocument/2006/relationships/notesMaster" Target="/ppt/notesMasters/notesMaster1.xml" Id="Rfe5f0d4b9a4746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7d803580cad4a1d" /><Relationship Type="http://schemas.openxmlformats.org/officeDocument/2006/relationships/notesMaster" Target="/ppt/notesMasters/notesMaster1.xml" Id="R5e43691fc32249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Isaac Sim · Lab 실습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실습과 결과 파일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PC와 버전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RTX PC에서 진행한다. Jetson과 Raspberry Pi용 실습이 아니다. 공식 최소 표는 시작 기준이며 학습 규모에 따라 메모리가 추가로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https://docs.isaacsim.omniverse.nvidia.com/6.1.0/installation/requirements.html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GB 실습 설정과 VM 제한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 GB 실습 설정은 메모리 부담을 줄이기 위한 설정이며 공식 지원 사양을 변경하지 않는다. VirtualBox의 3D 가속으로 RTX·CUDA가 제공되는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https://docs.isaacsim.omniverse.nvidia.com/6.1.0/installation/requirements.html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ZIP과 작업 폴더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Windows는 C:\isaac-course 아래, Ubuntu는 ~/pa-course 아래에 ZIP을 풀어 windows_lab 폴더를 둔다. 이 자료는 터미널에서 독립 Python 프로그램을 실행한다. Isaac Sim Script Editor에 붙여 넣지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Set-Location C:\isaac-course\windows_lab</a:t>
            </a:r>
          </a:p>
          <a:p xmlns:a="http://schemas.openxmlformats.org/drawingml/2006/main">
            <a:r>
              <a:t>Get-ChildItem</a:t>
            </a:r>
          </a:p>
          <a:p xmlns:a="http://schemas.openxmlformats.org/drawingml/2006/main">
            <a:r>
              <a:t>Get-ChildItem .\examples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cd "$HOME/pa-course/windows_lab"</a:t>
            </a:r>
          </a:p>
          <a:p xmlns:a="http://schemas.openxmlformats.org/drawingml/2006/main">
            <a:r>
              <a:t>ls</a:t>
            </a:r>
          </a:p>
          <a:p xmlns:a="http://schemas.openxmlformats.org/drawingml/2006/main">
            <a:r>
              <a:t>ls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examples 폴더와 README.md가 현재 폴더에 보이면 준비 완료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ZIP 안의 windows_lab 폴더를 왼쪽·오른쪽 경로에 각각 놓는다.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도구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# Python 3.12 x64와 Git을 먼저 설치</a:t>
            </a:r>
          </a:p>
          <a:p xmlns:a="http://schemas.openxmlformats.org/drawingml/2006/main">
            <a:r>
              <a:t># 긴 경로 설정은 관리자 PowerShell</a:t>
            </a:r>
          </a:p>
          <a:p xmlns:a="http://schemas.openxmlformats.org/drawingml/2006/main">
            <a:r>
              <a:t>$key = 'HKLM:\SYSTEM\CurrentControlSet'</a:t>
            </a:r>
          </a:p>
          <a:p xmlns:a="http://schemas.openxmlformats.org/drawingml/2006/main">
            <a:r>
              <a:t>$key += '\Control\FileSystem'</a:t>
            </a:r>
          </a:p>
          <a:p xmlns:a="http://schemas.openxmlformats.org/drawingml/2006/main">
            <a:r>
              <a:t>New-ItemProperty -Path $key `</a:t>
            </a:r>
          </a:p>
          <a:p xmlns:a="http://schemas.openxmlformats.org/drawingml/2006/main">
            <a:r>
              <a:t>  -Name LongPathsEnabled -Value 1 `</a:t>
            </a:r>
          </a:p>
          <a:p xmlns:a="http://schemas.openxmlformats.org/drawingml/2006/main">
            <a:r>
              <a:t>  -PropertyType DWORD -Force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sudo apt update</a:t>
            </a:r>
          </a:p>
          <a:p xmlns:a="http://schemas.openxmlformats.org/drawingml/2006/main">
            <a:r>
              <a:t>sudo apt install -y \</a:t>
            </a:r>
          </a:p>
          <a:p xmlns:a="http://schemas.openxmlformats.org/drawingml/2006/main">
            <a:r>
              <a:t>  git curl build-essential cmake \</a:t>
            </a:r>
          </a:p>
          <a:p xmlns:a="http://schemas.openxmlformats.org/drawingml/2006/main">
            <a:r>
              <a:t>  python3.12-venv python3-pip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Windows는 새 일반 PowerShell을 연다. Ubuntu는 설치가 정상 종료되어야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Python·Git 공식 설치 링크는 발표자 노트와 실행 안내에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https://www.python.org/downloads/windows/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https://git-scm.com/install/windows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https://isaac-sim.github.io/IsaacLab/v3.0.0-EA/source/setup/installation/index.html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GPU와 Python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nvidia-smi</a:t>
            </a:r>
          </a:p>
          <a:p xmlns:a="http://schemas.openxmlformats.org/drawingml/2006/main">
            <a:r>
              <a:t>py -3.12 --version</a:t>
            </a:r>
          </a:p>
          <a:p xmlns:a="http://schemas.openxmlformats.org/drawingml/2006/main">
            <a:r>
              <a:t>git --version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nvidia-smi</a:t>
            </a:r>
          </a:p>
          <a:p xmlns:a="http://schemas.openxmlformats.org/drawingml/2006/main">
            <a:r>
              <a:t>python3.12 --version</a:t>
            </a:r>
          </a:p>
          <a:p xmlns:a="http://schemas.openxmlformats.org/drawingml/2006/main">
            <a:r>
              <a:t>git --version</a:t>
            </a:r>
          </a:p>
          <a:p xmlns:a="http://schemas.openxmlformats.org/drawingml/2006/main">
            <a:r>
              <a:t>free -h</a:t>
            </a:r>
          </a:p>
          <a:p xmlns:a="http://schemas.openxmlformats.org/drawingml/2006/main">
            <a:r>
              <a:t>df -h "$HOME"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GPU 이름·VRAM·드라이버와 Python 3.12가 표시되는지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nvidia-smi의 CUDA 표시는 드라이버가 지원하는 수준이다.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https://docs.isaacsim.omniverse.nvidia.com/6.1.0/installation/requirements.html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uv 설치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$url = 'https://astral.sh/uv/install.ps1'</a:t>
            </a:r>
          </a:p>
          <a:p xmlns:a="http://schemas.openxmlformats.org/drawingml/2006/main">
            <a:r>
              <a:t>irm $url | iex</a:t>
            </a:r>
          </a:p>
          <a:p xmlns:a="http://schemas.openxmlformats.org/drawingml/2006/main">
            <a:r>
              <a:t>$env:Path = "$env:USERPROFILE" + `</a:t>
            </a:r>
          </a:p>
          <a:p xmlns:a="http://schemas.openxmlformats.org/drawingml/2006/main">
            <a:r>
              <a:t>  "\.local\bin;" + $env:Path</a:t>
            </a:r>
          </a:p>
          <a:p xmlns:a="http://schemas.openxmlformats.org/drawingml/2006/main">
            <a:r>
              <a:t>uv --version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curl -LsSf \</a:t>
            </a:r>
          </a:p>
          <a:p xmlns:a="http://schemas.openxmlformats.org/drawingml/2006/main">
            <a:r>
              <a:t>  https://astral.sh/uv/install.sh | sh</a:t>
            </a:r>
          </a:p>
          <a:p xmlns:a="http://schemas.openxmlformats.org/drawingml/2006/main">
            <a:r>
              <a:t>export PATH="$HOME/.local/bin:$PATH"</a:t>
            </a:r>
          </a:p>
          <a:p xmlns:a="http://schemas.openxmlformats.org/drawingml/2006/main">
            <a:r>
              <a:t>uv --version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uv 버전이 출력되면 Lab 설치 도구 준비 완료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명령을 찾지 못하면 새 터미널을 열고 다시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https://docs.astral.sh/uv/getting-started/installation/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Isaac Sim 전용 Python 환경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환경은 덮어쓰지 않는다. 새 터미널에서는 다음 장의 $py 또는 PY 설정을 다시 실행한다. Lab은 이후 별도의 .venv를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$venv = 'C:\isaac-course\simenv'</a:t>
            </a:r>
          </a:p>
          <a:p xmlns:a="http://schemas.openxmlformats.org/drawingml/2006/main">
            <a:r>
              <a:t>if (Test-Path $venv) {</a:t>
            </a:r>
          </a:p>
          <a:p xmlns:a="http://schemas.openxmlformats.org/drawingml/2006/main">
            <a:r>
              <a:t>  throw '기존 폴더를 먼저 확인하세요.'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py -3.12 -m venv $venv</a:t>
            </a:r>
          </a:p>
          <a:p xmlns:a="http://schemas.openxmlformats.org/drawingml/2006/main">
            <a:r>
              <a:t>$py = "$venv\Scripts\python.exe"</a:t>
            </a:r>
          </a:p>
          <a:p xmlns:a="http://schemas.openxmlformats.org/drawingml/2006/main">
            <a:r>
              <a:t>&amp; $py -m pip install --upgrade pip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VENV="$HOME/pa-course/.venv-isaacsim"</a:t>
            </a:r>
          </a:p>
          <a:p xmlns:a="http://schemas.openxmlformats.org/drawingml/2006/main">
            <a:r>
              <a:t>test ! -e "$VENV" || exit 1</a:t>
            </a:r>
          </a:p>
          <a:p xmlns:a="http://schemas.openxmlformats.org/drawingml/2006/main">
            <a:r>
              <a:t>python3.12 -m venv "$VENV"</a:t>
            </a:r>
          </a:p>
          <a:p xmlns:a="http://schemas.openxmlformats.org/drawingml/2006/main">
            <a:r>
              <a:t>PY="$VENV/bin/python"</a:t>
            </a:r>
          </a:p>
          <a:p xmlns:a="http://schemas.openxmlformats.org/drawingml/2006/main">
            <a:r>
              <a:t>"$PY" -m pip install --upgrade pip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이후 Sim 명령은 Windows의 $py, Ubuntu의 $PY를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이미 설치한 6.1 환경이 있으면 새로 만들지 않고 다음 장의 경로 변수만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https://docs.isaacsim.omniverse.nvidia.com/6.1.0/installation/install_python.html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Isaac Sim 6.1 패키지 설치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$py = 'C:\isaac-course\simenv' + `</a:t>
            </a:r>
          </a:p>
          <a:p xmlns:a="http://schemas.openxmlformats.org/drawingml/2006/main">
            <a:r>
              <a:t>  '\Scripts\python.exe'</a:t>
            </a:r>
          </a:p>
          <a:p xmlns:a="http://schemas.openxmlformats.org/drawingml/2006/main">
            <a:r>
              <a:t>$base = 'https://download.pytorch.org'</a:t>
            </a:r>
          </a:p>
          <a:p xmlns:a="http://schemas.openxmlformats.org/drawingml/2006/main">
            <a:r>
              <a:t>&amp; $py -m pip install torch==2.11.0 `</a:t>
            </a:r>
          </a:p>
          <a:p xmlns:a="http://schemas.openxmlformats.org/drawingml/2006/main">
            <a:r>
              <a:t>  --index-url "$base/whl/cu130"</a:t>
            </a:r>
          </a:p>
          <a:p xmlns:a="http://schemas.openxmlformats.org/drawingml/2006/main">
            <a:r>
              <a:t>&amp; $py -m pip install `</a:t>
            </a:r>
          </a:p>
          <a:p xmlns:a="http://schemas.openxmlformats.org/drawingml/2006/main">
            <a:r>
              <a:t>  'isaacsim[all,extscache]==6.1.0.0' `</a:t>
            </a:r>
          </a:p>
          <a:p xmlns:a="http://schemas.openxmlformats.org/drawingml/2006/main">
            <a:r>
              <a:t>  --extra-index-url https://pypi.nvidia.com</a:t>
            </a:r>
          </a:p>
          <a:p xmlns:a="http://schemas.openxmlformats.org/drawingml/2006/main">
            <a:r>
              <a:t>&amp; $py -m pip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VENV="$HOME/pa-course/.venv-isaacsim"</a:t>
            </a:r>
          </a:p>
          <a:p xmlns:a="http://schemas.openxmlformats.org/drawingml/2006/main">
            <a:r>
              <a:t>PY="$VENV/bin/python"</a:t>
            </a:r>
          </a:p>
          <a:p xmlns:a="http://schemas.openxmlformats.org/drawingml/2006/main">
            <a:r>
              <a:t>BASE='https://download.pytorch.org'</a:t>
            </a:r>
          </a:p>
          <a:p xmlns:a="http://schemas.openxmlformats.org/drawingml/2006/main">
            <a:r>
              <a:t>"$PY" -m pip install torch==2.11.0 \</a:t>
            </a:r>
          </a:p>
          <a:p xmlns:a="http://schemas.openxmlformats.org/drawingml/2006/main">
            <a:r>
              <a:t>  --index-url "$BASE/whl/cu130"</a:t>
            </a:r>
          </a:p>
          <a:p xmlns:a="http://schemas.openxmlformats.org/drawingml/2006/main">
            <a:r>
              <a:t>"$PY" -m pip install \</a:t>
            </a:r>
          </a:p>
          <a:p xmlns:a="http://schemas.openxmlformats.org/drawingml/2006/main">
            <a:r>
              <a:t>  'isaacsim[all,extscache]==6.1.0.0' \</a:t>
            </a:r>
          </a:p>
          <a:p xmlns:a="http://schemas.openxmlformats.org/drawingml/2006/main">
            <a:r>
              <a:t>  --extra-index-url https://pypi.nvidia.com</a:t>
            </a:r>
          </a:p>
          <a:p xmlns:a="http://schemas.openxmlformats.org/drawingml/2006/main">
            <a:r>
              <a:t>"$PY" -m pip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 check에서 의존성 오류가 없는지 확인한 뒤 다음 단계로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각 명령이 성공한 뒤 다음 명령을 실행한다. CUDA 13을 지원하는 드라이버가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https://docs.isaacsim.omniverse.nvidia.com/6.1.0/installation/install_python.html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호환성 검사와 첫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$sim = 'C:\isaac-course\simenv' + `</a:t>
            </a:r>
          </a:p>
          <a:p xmlns:a="http://schemas.openxmlformats.org/drawingml/2006/main">
            <a:r>
              <a:t>  '\Scripts\isaacsim.exe'</a:t>
            </a:r>
          </a:p>
          <a:p xmlns:a="http://schemas.openxmlformats.org/drawingml/2006/main">
            <a:r>
              <a:t>&amp; $sim isaacsim.exp.compatibility_check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검사 창을 닫은 뒤 실행</a:t>
            </a:r>
          </a:p>
          <a:p xmlns:a="http://schemas.openxmlformats.org/drawingml/2006/main">
            <a:r>
              <a:t>&amp; $sim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VENV="$HOME/pa-course/.venv-isaacsim"</a:t>
            </a:r>
          </a:p>
          <a:p xmlns:a="http://schemas.openxmlformats.org/drawingml/2006/main">
            <a:r>
              <a:t>SIM="$VENV/bin/isaacsim"</a:t>
            </a:r>
          </a:p>
          <a:p xmlns:a="http://schemas.openxmlformats.org/drawingml/2006/main">
            <a:r>
              <a:t>"$SIM" isaacsim.exp.compatibility_check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검사 창을 닫은 뒤 실행</a:t>
            </a:r>
          </a:p>
          <a:p xmlns:a="http://schemas.openxmlformats.org/drawingml/2006/main">
            <a:r>
              <a:t>"$SIM"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호환성 검사와 기본 화면을 확인한 뒤 Sim을 종료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실행은 약관 확인·확장 다운로드·셰이더 준비가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https://docs.isaacsim.omniverse.nvidia.com/6.1.0/installation/install_python.html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1 · 상자 낙하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https://docs.isaacsim.omniverse.nvidia.com/6.1.0/core_api_tutorials/tutorial_core_hello_world.html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참고 이미지: https://docs.isaacsim.omniverse.nvidia.com/6.2.0/index.html</a:t>
            </a:r>
          </a:p>
          <a:p xmlns:a="http://schemas.openxmlformats.org/drawingml/2006/main">
            <a:r>
              <a:t>원본: https://docs.isaacsim.omniverse.nvidia.com/6.2.0/_images/isim_4.5_base_tut_gui_add_cube.webp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상자 낙하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 파일은 양쪽 OS에서 같은 Python 코드다. Windows &amp;는 변수에 들어 있는 실행 파일을 호출한다. Ubuntu는 경로 변수를 큰따옴표로 감싼다.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Set-Location C:\isaac-course\windows_lab</a:t>
            </a:r>
          </a:p>
          <a:p xmlns:a="http://schemas.openxmlformats.org/drawingml/2006/main">
            <a:r>
              <a:t>$py = 'C:\isaac-course\simenv' + `</a:t>
            </a:r>
          </a:p>
          <a:p xmlns:a="http://schemas.openxmlformats.org/drawingml/2006/main">
            <a:r>
              <a:t>  '\Scripts\python.exe'</a:t>
            </a:r>
          </a:p>
          <a:p xmlns:a="http://schemas.openxmlformats.org/drawingml/2006/main">
            <a:r>
              <a:t>&amp; $py .\examples\01_drop_cubes.py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cd "$HOME/pa-course/windows_lab"</a:t>
            </a:r>
          </a:p>
          <a:p xmlns:a="http://schemas.openxmlformats.org/drawingml/2006/main">
            <a:r>
              <a:t>VENV="$HOME/pa-course/.venv-isaacsim"</a:t>
            </a:r>
          </a:p>
          <a:p xmlns:a="http://schemas.openxmlformats.org/drawingml/2006/main">
            <a:r>
              <a:t>PY="$VENV/bin/python"</a:t>
            </a:r>
          </a:p>
          <a:p xmlns:a="http://schemas.openxmlformats.org/drawingml/2006/main">
            <a:r>
              <a:t>"$PY" examples/01_drop_cubes.py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 상자가 떨어지고 outputs에 01_drop_실행시각 폴더가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다른 Sim 창을 닫고 실행한다. 기본 600회 앱 업데이트 후 종료한다.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높이와 중력 바꾸기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공기 저항이 없는 모델에서 상자 변 길이는 0.5 m이다. 바닥 접촉까지 거리 h-0.25를 사용하면 t=sqrt(2*(h-0.25)/g)이다. 높이 2 m, g=9.81이면 약 0.597초. 4 m면 약 0.874초. 2 m, g=1.62면 약 1.470초. 이는 해석값이며 GPU 시뮬레이션 측정값이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# 하나씩 실행하고 종료를 기다린다.</a:t>
            </a:r>
          </a:p>
          <a:p xmlns:a="http://schemas.openxmlformats.org/drawingml/2006/main">
            <a:r>
              <a:t>&amp; $py .\examples\01_drop_cubes.py `</a:t>
            </a:r>
          </a:p>
          <a:p xmlns:a="http://schemas.openxmlformats.org/drawingml/2006/main">
            <a:r>
              <a:t>  --height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&amp; $py .\examples\01_drop_cubes.py `</a:t>
            </a:r>
          </a:p>
          <a:p xmlns:a="http://schemas.openxmlformats.org/drawingml/2006/main">
            <a:r>
              <a:t>  --gravity 1.62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# 하나씩 실행하고 종료를 기다린다.</a:t>
            </a:r>
          </a:p>
          <a:p xmlns:a="http://schemas.openxmlformats.org/drawingml/2006/main">
            <a:r>
              <a:t>"$PY" examples/01_drop_cubes.py \</a:t>
            </a:r>
          </a:p>
          <a:p xmlns:a="http://schemas.openxmlformats.org/drawingml/2006/main">
            <a:r>
              <a:t>  --height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"$PY" examples/01_drop_cubes.py \</a:t>
            </a:r>
          </a:p>
          <a:p xmlns:a="http://schemas.openxmlformats.org/drawingml/2006/main">
            <a:r>
              <a:t>  --gravity 1.62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기본 조건·높이 4 m·중력 1.62의 접촉 시각을 각각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이전 장의 $py / $PY와 작업 폴더 설정을 유지한다.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높이 CSV와 시작 장면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CSV 열은 simulation_seconds, mass_1kg_z_m, mass_10kg_z_m이다. 마지막 중심 z는 기본 조건에서 약 0.25 m가 예상된다. 창을 일찍 닫으면 낙하가 끝나지 않을 수 있다. 수치 적분·충돌 오프셋으로 해석값과 차이가 난다. Ubuntu xdg-open은 데스크톱 세션에서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explorer .\outputs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xdg-open ./outputs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01_drop 폴더의 heights.csv와 initial_scene.usda를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CSV에서 z ≤ 0.27 m인 첫 행을 접촉의 근사 시각으로 비교한다.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2 · 카메라와 합성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https://docs.isaacsim.omniverse.nvidia.com/6.1.0/sensors/isaacsim_sensors_camera.html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참고 이미지: https://docs.isaacsim.omniverse.nvidia.com/6.2.0/index.html</a:t>
            </a:r>
          </a:p>
          <a:p xmlns:a="http://schemas.openxmlformats.org/drawingml/2006/main">
            <a:r>
              <a:t>원본: https://docs.isaacsim.omniverse.nvidia.com/6.2.0/_images/isim_6.0_replicator_tut_external_workflow.jpg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촬영 두 번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&amp; $py .\examples\02_camera_capture.py `</a:t>
            </a:r>
          </a:p>
          <a:p xmlns:a="http://schemas.openxmlformats.org/drawingml/2006/main">
            <a:r>
              <a:t>  --seed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&amp; $py .\examples\02_camera_capture.py `</a:t>
            </a:r>
          </a:p>
          <a:p xmlns:a="http://schemas.openxmlformats.org/drawingml/2006/main">
            <a:r>
              <a:t>  --seed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explorer .\outputs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"$PY" examples/02_camera_capture.py \</a:t>
            </a:r>
          </a:p>
          <a:p xmlns:a="http://schemas.openxmlformats.org/drawingml/2006/main">
            <a:r>
              <a:t>  --seed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"$PY" examples/02_camera_capture.py \</a:t>
            </a:r>
          </a:p>
          <a:p xmlns:a="http://schemas.openxmlformats.org/drawingml/2006/main">
            <a:r>
              <a:t>  --seed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xdg-open ./outputs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02_camera 폴더 두 개의 RGB에서 상자 위치와 색을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 실행을 순서대로 진행한다. 카메라 실습에도 RTX GPU가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출력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카메라 시점 실습: examples/02_camera_capture.py의 point_camera eye (3.5, -5.0, 3.5)를 수정한 뒤 같은 seed로 실행한다. 저장된 원본을 보존하고 변경값을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https://docs.isaacsim.omniverse.nvidia.com/6.1.0/sensors/isaacsim_sensors_camera.html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3 · 보상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보상 계산 연습이며 정책을 학습하지 않는다. outputs/reward_examples.csv는 이 계산표를 재실행할 때 갱신한다.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Set-Location C:\isaac-course\windows_lab</a:t>
            </a:r>
          </a:p>
          <a:p xmlns:a="http://schemas.openxmlformats.org/drawingml/2006/main">
            <a:r>
              <a:t>py -3.12 .\examples\03_reward_design.py</a:t>
            </a:r>
          </a:p>
          <a:p xmlns:a="http://schemas.openxmlformats.org/drawingml/2006/main">
            <a:r>
              <a:t>Get-Content .\outputs\reward_examples.csv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cd "$HOME/pa-course/windows_lab"</a:t>
            </a:r>
          </a:p>
          <a:p xmlns:a="http://schemas.openxmlformats.org/drawingml/2006/main">
            <a:r>
              <a:t>python3.12 examples/03_reward_design.py</a:t>
            </a:r>
          </a:p>
          <a:p xmlns:a="http://schemas.openxmlformats.org/drawingml/2006/main">
            <a:r>
              <a:t>cat outputs/reward_examples.csv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Self-check passed와 사례별 보상 표가 출력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예제는 Python만 사용한다. GPU·Sim 설치 없이도 실행할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보상 값과 편법 행동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환경은 도착·충돌 이후 종료 또는 일회성 보상 처리가 필요하다. 이 함수는 종료를 처리하지 않는다. 동일 시간의 왕복은 거리 보상이 상쇄되고 시간 비용 -0.002가 남는다. 도착과 충돌이 동시에 있으면 충돌 벌점을 우선한다.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4 · Cartpole 정책 학습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v3.0.0-EA는 Early Access다. 이 수업은 Isaac-Cartpole, isaacsim_physx, kit을 선택한다. main이나 develop으로 바꾸지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https://isaac-sim.github.io/IsaacLab/v3.0.0-EA/source/setup/quickstart.html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참고 이미지: undefined</a:t>
            </a:r>
          </a:p>
          <a:p xmlns:a="http://schemas.openxmlformats.org/drawingml/2006/main">
            <a:r>
              <a:t>원본: https://raw.githubusercontent.com/isaac-sim/IsaacLab/0c114a24a3b9e854d299d3527ada507139fc4e40/docs/source/_static/environment-previews/cartpole.jpg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Isaac Lab 고정 버전 받기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Set-Location C:\isaac-course</a:t>
            </a:r>
          </a:p>
          <a:p xmlns:a="http://schemas.openxmlformats.org/drawingml/2006/main">
            <a:r>
              <a:t>$repo = 'https://github.com/isaac-sim/'</a:t>
            </a:r>
          </a:p>
          <a:p xmlns:a="http://schemas.openxmlformats.org/drawingml/2006/main">
            <a:r>
              <a:t>$repo += 'IsaacLab.git'</a:t>
            </a:r>
          </a:p>
          <a:p xmlns:a="http://schemas.openxmlformats.org/drawingml/2006/main">
            <a:r>
              <a:t>git clone --depth 1 `</a:t>
            </a:r>
          </a:p>
          <a:p xmlns:a="http://schemas.openxmlformats.org/drawingml/2006/main">
            <a:r>
              <a:t>  --branch v3.0.0-EA `</a:t>
            </a:r>
          </a:p>
          <a:p xmlns:a="http://schemas.openxmlformats.org/drawingml/2006/main">
            <a:r>
              <a:t>  $repo IsaacLab-6.1</a:t>
            </a:r>
          </a:p>
          <a:p xmlns:a="http://schemas.openxmlformats.org/drawingml/2006/main">
            <a:r>
              <a:t>Set-Location .\IsaacLab-6.1</a:t>
            </a:r>
          </a:p>
          <a:p xmlns:a="http://schemas.openxmlformats.org/drawingml/2006/main">
            <a:r>
              <a:t>git rev-parse HEAD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cd "$HOME/pa-course"</a:t>
            </a:r>
          </a:p>
          <a:p xmlns:a="http://schemas.openxmlformats.org/drawingml/2006/main">
            <a:r>
              <a:t>REPO='https://github.com/isaac-sim/'</a:t>
            </a:r>
          </a:p>
          <a:p xmlns:a="http://schemas.openxmlformats.org/drawingml/2006/main">
            <a:r>
              <a:t>REPO+="IsaacLab.git"</a:t>
            </a:r>
          </a:p>
          <a:p xmlns:a="http://schemas.openxmlformats.org/drawingml/2006/main">
            <a:r>
              <a:t>git clone --depth 1 \</a:t>
            </a:r>
          </a:p>
          <a:p xmlns:a="http://schemas.openxmlformats.org/drawingml/2006/main">
            <a:r>
              <a:t>  --branch v3.0.0-EA \</a:t>
            </a:r>
          </a:p>
          <a:p xmlns:a="http://schemas.openxmlformats.org/drawingml/2006/main">
            <a:r>
              <a:t>  "$REPO" IsaacLab-6.1</a:t>
            </a:r>
          </a:p>
          <a:p xmlns:a="http://schemas.openxmlformats.org/drawingml/2006/main">
            <a:r>
              <a:t>cd IsaacLab-6.1</a:t>
            </a:r>
          </a:p>
          <a:p xmlns:a="http://schemas.openxmlformats.org/drawingml/2006/main">
            <a:r>
              <a:t>git rev-parse HEAD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v3.0.0-EA 저장소를 별도 폴더에 받는다.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폴더가 이미 있거나 clone이 실패하면 멈추고 기존 버전부터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https://isaac-sim.github.io/IsaacLab/v3.0.0-EA/source/setup/installation/index.html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커밋 확인과 Lab 환경 설치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$pin = 'ae37b028ea415c91ea2b'</a:t>
            </a:r>
          </a:p>
          <a:p xmlns:a="http://schemas.openxmlformats.org/drawingml/2006/main">
            <a:r>
              <a:t>$pin += 'c32609efcd759ed2b974'</a:t>
            </a:r>
          </a:p>
          <a:p xmlns:a="http://schemas.openxmlformats.org/drawingml/2006/main">
            <a:r>
              <a:t>if ((git rev-parse HEAD) -ne $pin) {</a:t>
            </a:r>
          </a:p>
          <a:p xmlns:a="http://schemas.openxmlformats.org/drawingml/2006/main">
            <a:r>
              <a:t>  throw '수업 기준 커밋과 다릅니다.'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uv sync --frozen --extra isaacsim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PIN='ae37b028ea415c91ea2b'</a:t>
            </a:r>
          </a:p>
          <a:p xmlns:a="http://schemas.openxmlformats.org/drawingml/2006/main">
            <a:r>
              <a:t>PIN+='c32609efcd759ed2b974'</a:t>
            </a:r>
          </a:p>
          <a:p xmlns:a="http://schemas.openxmlformats.org/drawingml/2006/main">
            <a:r>
              <a:t>test "$(git rev-parse HEAD)" = "$PIN" \</a:t>
            </a:r>
          </a:p>
          <a:p xmlns:a="http://schemas.openxmlformats.org/drawingml/2006/main">
            <a:r>
              <a:t>  || exit 1</a:t>
            </a:r>
          </a:p>
          <a:p xmlns:a="http://schemas.openxmlformats.org/drawingml/2006/main">
            <a:r>
              <a:t>uv sync --frozen --extra isaacsim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커밋 일치 후 uv sync가 오류 없이 종료되어야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폴더의 .venv에 Sim 6.1을 별도로 설치한다. uv.lock을 갱신하지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https://github.com/isaac-sim/IsaacLab/blob/ae37b028ea415c91ea2bc32609efcd759ed2b974/pyproject.toml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Lab의 Sim 버전과 과제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이후 Lab 코드는 IsaacLab-6.1 폴더에서 실행한다. 독립 Sim 예제의 windows_lab 폴더와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Set-Location C:\isaac-course\IsaacLab-6.1</a:t>
            </a:r>
          </a:p>
          <a:p xmlns:a="http://schemas.openxmlformats.org/drawingml/2006/main">
            <a:r>
              <a:t>$check = 'from importlib.metadata '</a:t>
            </a:r>
          </a:p>
          <a:p xmlns:a="http://schemas.openxmlformats.org/drawingml/2006/main">
            <a:r>
              <a:t>$check += 'import version; '</a:t>
            </a:r>
          </a:p>
          <a:p xmlns:a="http://schemas.openxmlformats.org/drawingml/2006/main">
            <a:r>
              <a:t>$check += "print(version('isaacsim'))"</a:t>
            </a:r>
          </a:p>
          <a:p xmlns:a="http://schemas.openxmlformats.org/drawingml/2006/main">
            <a:r>
              <a:t>uv run --frozen --extra isaacsim `</a:t>
            </a:r>
          </a:p>
          <a:p xmlns:a="http://schemas.openxmlformats.org/drawingml/2006/main">
            <a:r>
              <a:t>  python -c $check</a:t>
            </a:r>
          </a:p>
          <a:p xmlns:a="http://schemas.openxmlformats.org/drawingml/2006/main">
            <a:r>
              <a:t>uv run --frozen --extra isaacsim `</a:t>
            </a:r>
          </a:p>
          <a:p xmlns:a="http://schemas.openxmlformats.org/drawingml/2006/main">
            <a:r>
              <a:t>  isaaclab list_envs --show_presets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cd "$HOME/pa-course/IsaacLab-6.1"</a:t>
            </a:r>
          </a:p>
          <a:p xmlns:a="http://schemas.openxmlformats.org/drawingml/2006/main">
            <a:r>
              <a:t>CHECK='from importlib.metadata '</a:t>
            </a:r>
          </a:p>
          <a:p xmlns:a="http://schemas.openxmlformats.org/drawingml/2006/main">
            <a:r>
              <a:t>CHECK+='import version; '</a:t>
            </a:r>
          </a:p>
          <a:p xmlns:a="http://schemas.openxmlformats.org/drawingml/2006/main">
            <a:r>
              <a:t>CHECK+="print(version('isaacsim'))"</a:t>
            </a:r>
          </a:p>
          <a:p xmlns:a="http://schemas.openxmlformats.org/drawingml/2006/main">
            <a:r>
              <a:t>uv run --frozen --extra isaacsim \</a:t>
            </a:r>
          </a:p>
          <a:p xmlns:a="http://schemas.openxmlformats.org/drawingml/2006/main">
            <a:r>
              <a:t>  python -c "$CHECK"</a:t>
            </a:r>
          </a:p>
          <a:p xmlns:a="http://schemas.openxmlformats.org/drawingml/2006/main">
            <a:r>
              <a:t>uv run --frozen --extra isaacsim \</a:t>
            </a:r>
          </a:p>
          <a:p xmlns:a="http://schemas.openxmlformats.org/drawingml/2006/main">
            <a:r>
              <a:t>  isaaclab list_envs --show_presets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버전 6.1.0.0과 Isaac-Cartpole 과제를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목록 조회는 환경 점검이다. 실제 물리·학습은 다음 단계에서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https://isaac-sim.github.io/IsaacLab/v3.0.0-EA/source/setup/installation/index.html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Cartpole 무작위 행동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uv run --frozen --extra isaacsim `</a:t>
            </a:r>
          </a:p>
          <a:p xmlns:a="http://schemas.openxmlformats.org/drawingml/2006/main">
            <a:r>
              <a:t>  isaaclab random_agent `</a:t>
            </a:r>
          </a:p>
          <a:p xmlns:a="http://schemas.openxmlformats.org/drawingml/2006/main">
            <a:r>
              <a:t>  --task Isaac-Cartpole `</a:t>
            </a:r>
          </a:p>
          <a:p xmlns:a="http://schemas.openxmlformats.org/drawingml/2006/main">
            <a:r>
              <a:t>  --num_envs 1 `</a:t>
            </a:r>
          </a:p>
          <a:p xmlns:a="http://schemas.openxmlformats.org/drawingml/2006/main">
            <a:r>
              <a:t>  physics=isaacsim_physx --viz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uv run --frozen --extra isaacsim \</a:t>
            </a:r>
          </a:p>
          <a:p xmlns:a="http://schemas.openxmlformats.org/drawingml/2006/main">
            <a:r>
              <a:t>  isaaclab random_agent \</a:t>
            </a:r>
          </a:p>
          <a:p xmlns:a="http://schemas.openxmlformats.org/drawingml/2006/main">
            <a:r>
              <a:t>  --task Isaac-Cartpole \</a:t>
            </a:r>
          </a:p>
          <a:p xmlns:a="http://schemas.openxmlformats.org/drawingml/2006/main">
            <a:r>
              <a:t>  --num_envs 1 \</a:t>
            </a:r>
          </a:p>
          <a:p xmlns:a="http://schemas.openxmlformats.org/drawingml/2006/main">
            <a:r>
              <a:t>  physics=isaacsim_physx --viz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수레·막대 1개의 움직임과 초기화를 관찰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학습된 정책이 아니다. 창을 닫거나 Ctrl+C로 종료한 뒤 다음 단계로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https://isaac-sim.github.io/IsaacLab/v3.0.0-EA/source/setup/quickstart.html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PPO 학습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uv run --frozen --extra isaacsim `</a:t>
            </a:r>
          </a:p>
          <a:p xmlns:a="http://schemas.openxmlformats.org/drawingml/2006/main">
            <a:r>
              <a:t>  isaaclab train `</a:t>
            </a:r>
          </a:p>
          <a:p xmlns:a="http://schemas.openxmlformats.org/drawingml/2006/main">
            <a:r>
              <a:t>  --rl_library rsl_rl `</a:t>
            </a:r>
          </a:p>
          <a:p xmlns:a="http://schemas.openxmlformats.org/drawingml/2006/main">
            <a:r>
              <a:t>  --task Isaac-Cartpole `</a:t>
            </a:r>
          </a:p>
          <a:p xmlns:a="http://schemas.openxmlformats.org/drawingml/2006/main">
            <a:r>
              <a:t>  --num_envs 1 --seed 42 `</a:t>
            </a:r>
          </a:p>
          <a:p xmlns:a="http://schemas.openxmlformats.org/drawingml/2006/main">
            <a:r>
              <a:t>  --max_iterations 300 `</a:t>
            </a:r>
          </a:p>
          <a:p xmlns:a="http://schemas.openxmlformats.org/drawingml/2006/main">
            <a:r>
              <a:t>  physics=isaacsim_physx --viz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uv run --frozen --extra isaacsim \</a:t>
            </a:r>
          </a:p>
          <a:p xmlns:a="http://schemas.openxmlformats.org/drawingml/2006/main">
            <a:r>
              <a:t>  isaaclab train \</a:t>
            </a:r>
          </a:p>
          <a:p xmlns:a="http://schemas.openxmlformats.org/drawingml/2006/main">
            <a:r>
              <a:t>  --rl_library rsl_rl \</a:t>
            </a:r>
          </a:p>
          <a:p xmlns:a="http://schemas.openxmlformats.org/drawingml/2006/main">
            <a:r>
              <a:t>  --task Isaac-Cartpole \</a:t>
            </a:r>
          </a:p>
          <a:p xmlns:a="http://schemas.openxmlformats.org/drawingml/2006/main">
            <a:r>
              <a:t>  --num_envs 1 --seed 42 \</a:t>
            </a:r>
          </a:p>
          <a:p xmlns:a="http://schemas.openxmlformats.org/drawingml/2006/main">
            <a:r>
              <a:t>  --max_iterations 300 \</a:t>
            </a:r>
          </a:p>
          <a:p xmlns:a="http://schemas.openxmlformats.org/drawingml/2006/main">
            <a:r>
              <a:t>  physics=isaacsim_physx --viz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logs 아래 학습 로그와 체크포인트가 저장되는지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300은 갱신 횟수다. 수렴·균형 성공을 보장하지 않으므로 실제 결과를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https://isaac-sim.github.io/IsaacLab/v3.0.0-EA/source/setup/quickstart.html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학습한 정책 재생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 전에 재생하면 체크포인트가 없어 실패한다. 재현하려면 --checkpoint latest를 --checkpoint "실제 체크포인트 절대 경로"로 바꾼다. 이름에 공백이 있으면 큰따옴표를 유지한다. 재생은 화면 관찰이며 정량 평가 전체가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uv run --frozen --extra isaacsim `</a:t>
            </a:r>
          </a:p>
          <a:p xmlns:a="http://schemas.openxmlformats.org/drawingml/2006/main">
            <a:r>
              <a:t>  isaaclab play `</a:t>
            </a:r>
          </a:p>
          <a:p xmlns:a="http://schemas.openxmlformats.org/drawingml/2006/main">
            <a:r>
              <a:t>  --rl_library rsl_rl `</a:t>
            </a:r>
          </a:p>
          <a:p xmlns:a="http://schemas.openxmlformats.org/drawingml/2006/main">
            <a:r>
              <a:t>  --task Isaac-Cartpole `</a:t>
            </a:r>
          </a:p>
          <a:p xmlns:a="http://schemas.openxmlformats.org/drawingml/2006/main">
            <a:r>
              <a:t>  --num_envs 1 --seed 123 `</a:t>
            </a:r>
          </a:p>
          <a:p xmlns:a="http://schemas.openxmlformats.org/drawingml/2006/main">
            <a:r>
              <a:t>  --checkpoint latest `</a:t>
            </a:r>
          </a:p>
          <a:p xmlns:a="http://schemas.openxmlformats.org/drawingml/2006/main">
            <a:r>
              <a:t>  physics=isaacsim_physx --viz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uv run --frozen --extra isaacsim \</a:t>
            </a:r>
          </a:p>
          <a:p xmlns:a="http://schemas.openxmlformats.org/drawingml/2006/main">
            <a:r>
              <a:t>  isaaclab play \</a:t>
            </a:r>
          </a:p>
          <a:p xmlns:a="http://schemas.openxmlformats.org/drawingml/2006/main">
            <a:r>
              <a:t>  --rl_library rsl_rl \</a:t>
            </a:r>
          </a:p>
          <a:p xmlns:a="http://schemas.openxmlformats.org/drawingml/2006/main">
            <a:r>
              <a:t>  --task Isaac-Cartpole \</a:t>
            </a:r>
          </a:p>
          <a:p xmlns:a="http://schemas.openxmlformats.org/drawingml/2006/main">
            <a:r>
              <a:t>  --num_envs 1 --seed 123 \</a:t>
            </a:r>
          </a:p>
          <a:p xmlns:a="http://schemas.openxmlformats.org/drawingml/2006/main">
            <a:r>
              <a:t>  --checkpoint latest \</a:t>
            </a:r>
          </a:p>
          <a:p xmlns:a="http://schemas.openxmlformats.org/drawingml/2006/main">
            <a:r>
              <a:t>  physics=isaacsim_physx --viz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 전과 균형 유지·초기화·카트 위치를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latest는 호환되는 최근 실행을 선택한다. 실제 체크포인트 경로를 따로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https://isaac-sim.github.io/IsaacLab/v3.0.0-EA/source/setup/quickstart.html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없이 학습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uv run --frozen --extra isaacsim `</a:t>
            </a:r>
          </a:p>
          <a:p xmlns:a="http://schemas.openxmlformats.org/drawingml/2006/main">
            <a:r>
              <a:t>  isaaclab train `</a:t>
            </a:r>
          </a:p>
          <a:p xmlns:a="http://schemas.openxmlformats.org/drawingml/2006/main">
            <a:r>
              <a:t>  --rl_library rsl_rl `</a:t>
            </a:r>
          </a:p>
          <a:p xmlns:a="http://schemas.openxmlformats.org/drawingml/2006/main">
            <a:r>
              <a:t>  --task Isaac-Cartpole `</a:t>
            </a:r>
          </a:p>
          <a:p xmlns:a="http://schemas.openxmlformats.org/drawingml/2006/main">
            <a:r>
              <a:t>  --num_envs 1 --seed 42 `</a:t>
            </a:r>
          </a:p>
          <a:p xmlns:a="http://schemas.openxmlformats.org/drawingml/2006/main">
            <a:r>
              <a:t>  --max_iterations 300 `</a:t>
            </a:r>
          </a:p>
          <a:p xmlns:a="http://schemas.openxmlformats.org/drawingml/2006/main">
            <a:r>
              <a:t>  physics=isaacsim_physx --viz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uv run --frozen --extra isaacsim \</a:t>
            </a:r>
          </a:p>
          <a:p xmlns:a="http://schemas.openxmlformats.org/drawingml/2006/main">
            <a:r>
              <a:t>  isaaclab train \</a:t>
            </a:r>
          </a:p>
          <a:p xmlns:a="http://schemas.openxmlformats.org/drawingml/2006/main">
            <a:r>
              <a:t>  --rl_library rsl_rl \</a:t>
            </a:r>
          </a:p>
          <a:p xmlns:a="http://schemas.openxmlformats.org/drawingml/2006/main">
            <a:r>
              <a:t>  --task Isaac-Cartpole \</a:t>
            </a:r>
          </a:p>
          <a:p xmlns:a="http://schemas.openxmlformats.org/drawingml/2006/main">
            <a:r>
              <a:t>  --num_envs 1 --seed 42 \</a:t>
            </a:r>
          </a:p>
          <a:p xmlns:a="http://schemas.openxmlformats.org/drawingml/2006/main">
            <a:r>
              <a:t>  --max_iterations 300 \</a:t>
            </a:r>
          </a:p>
          <a:p xmlns:a="http://schemas.openxmlformats.org/drawingml/2006/main">
            <a:r>
              <a:t>  physics=isaacsim_physx --viz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창 없이 학습 로그가 진행되는지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none은 화면 생략이다. GPU는 필요하며 환경 수를 줄이면 학습 조건도 달라진다.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https://isaac-sim.github.io/IsaacLab/v3.0.0-EA/source/setup/quickstart.html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 전후 관찰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실행이 안 될 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배포 예제 자체 점검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제작 환경에서는 Python 문법·보상 계산·명령 문법을 확인했다. 실제 Isaac Sim GPU 실행과 Isaac Lab 학습은 수행하지 않았다. 강사는 지원 GPU가 있는 수업 PC에서 사전 실행해야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Set-Location C:\isaac-course\windows_lab</a:t>
            </a:r>
          </a:p>
          <a:p xmlns:a="http://schemas.openxmlformats.org/drawingml/2006/main">
            <a:r>
              <a:t>py -3.12 .\99_self_check.py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cd "$HOME/pa-course/windows_lab"</a:t>
            </a:r>
          </a:p>
          <a:p xmlns:a="http://schemas.openxmlformats.org/drawingml/2006/main">
            <a:r>
              <a:t>python3.12 99_self_check.py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예제 컴파일과 보상 계산 점검이 PASS인지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점검은 Sim 렌더링·물리·Lab 학습의 성공을 판정하지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결과 정리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부록 · 기존 Workstation 설치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</a:t>
            </a:r>
          </a:p>
          <a:p xmlns:a="http://schemas.openxmlformats.org/drawingml/2006/main">
            <a:r>
              <a:t># 아래 경로를 실제 6.1 설치 위치로 변경</a:t>
            </a:r>
          </a:p>
          <a:p xmlns:a="http://schemas.openxmlformats.org/drawingml/2006/main">
            <a:r>
              <a:t>Set-Location C:\isaac-course\windows_lab</a:t>
            </a:r>
          </a:p>
          <a:p xmlns:a="http://schemas.openxmlformats.org/drawingml/2006/main">
            <a:r>
              <a:t>&amp; 'C:\isaacsim\python.bat' `</a:t>
            </a:r>
          </a:p>
          <a:p xmlns:a="http://schemas.openxmlformats.org/drawingml/2006/main">
            <a:r>
              <a:t>  .\examples\01_drop_cubes.py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Ubuntu Bash</a:t>
            </a:r>
          </a:p>
          <a:p xmlns:a="http://schemas.openxmlformats.org/drawingml/2006/main">
            <a:r>
              <a:t># 아래 경로를 실제 6.1 설치 위치로 변경</a:t>
            </a:r>
          </a:p>
          <a:p xmlns:a="http://schemas.openxmlformats.org/drawingml/2006/main">
            <a:r>
              <a:t>cd "$HOME/pa-course/windows_lab"</a:t>
            </a:r>
          </a:p>
          <a:p xmlns:a="http://schemas.openxmlformats.org/drawingml/2006/main">
            <a:r>
              <a:t>"$HOME/isaacsim/python.sh" \</a:t>
            </a:r>
          </a:p>
          <a:p xmlns:a="http://schemas.openxmlformats.org/drawingml/2006/main">
            <a:r>
              <a:t>  examples/01_drop_cubes.py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Sim 6.1의 Python 런처로 같은 예제를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경로는 예시다. Lab은 앞서 안내한 별도 uv 환경을 그대로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https://docs.isaacsim.omniverse.nvidia.com/6.1.0/installation/install_python.html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6f56df05243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a13bcb8cf4c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5a7ea31674a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39a59913544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180799d104d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206f47272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46052A-B0E7-4385-81B0-734A24887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6F6732-9CEA-491B-A3D1-F72889B739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121702-52BC-47F5-8A2D-095396276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B25D87-2633-4D06-9764-4888D3DE0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66955D-D2F8-4492-AB38-93A7CFA463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22AFC8-D4AE-47D6-B0CC-C966FF6D4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C08493-7BC5-4314-AB9B-D48946315C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88D808-47AE-49BC-BF7B-D15514F0EA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7ADFAA-879B-4A56-96A4-D2FEFDEB0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2DC828-8EF1-43D5-BB90-1CD81A7C4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230314b824c92" /><Relationship Type="http://schemas.openxmlformats.org/officeDocument/2006/relationships/slideLayout" Target="/ppt/slideLayouts/slideLayout1.xml" Id="R7a3eedd8451f4440" /><Relationship Type="http://schemas.openxmlformats.org/officeDocument/2006/relationships/slideLayout" Target="/ppt/slideLayouts/slideLayout2.xml" Id="R6032abec209f4c6b" /><Relationship Type="http://schemas.openxmlformats.org/officeDocument/2006/relationships/slideLayout" Target="/ppt/slideLayouts/slideLayout3.xml" Id="R197d39869fec43b2" /><Relationship Type="http://schemas.openxmlformats.org/officeDocument/2006/relationships/slideLayout" Target="/ppt/slideLayouts/slideLayout4.xml" Id="R5c1f662fefa848ba" /><Relationship Type="http://schemas.openxmlformats.org/officeDocument/2006/relationships/slideLayout" Target="/ppt/slideLayouts/slideLayout5.xml" Id="Re8b4f0771d4f4021" /><Relationship Type="http://schemas.openxmlformats.org/officeDocument/2006/relationships/slideLayout" Target="/ppt/slideLayouts/slideLayout6.xml" Id="Ra2c8da43171541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3eedd8451f4440"/>
    <p:sldLayoutId xmlns:r="http://schemas.openxmlformats.org/officeDocument/2006/relationships" id="2147483650" r:id="R6032abec209f4c6b"/>
    <p:sldLayoutId xmlns:r="http://schemas.openxmlformats.org/officeDocument/2006/relationships" id="2147483651" r:id="R197d39869fec43b2"/>
    <p:sldLayoutId xmlns:r="http://schemas.openxmlformats.org/officeDocument/2006/relationships" id="2147483652" r:id="R5c1f662fefa848ba"/>
    <p:sldLayoutId xmlns:r="http://schemas.openxmlformats.org/officeDocument/2006/relationships" id="2147483653" r:id="Re8b4f0771d4f4021"/>
    <p:sldLayoutId xmlns:r="http://schemas.openxmlformats.org/officeDocument/2006/relationships" id="2147483654" r:id="Ra2c8da43171541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2fb08e6f144a07" /><Relationship Type="http://schemas.openxmlformats.org/officeDocument/2006/relationships/notesSlide" Target="/ppt/notesSlides/notesSlide1.xml" Id="Re77aac1b9b2140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8d62542c243f3" /><Relationship Type="http://schemas.openxmlformats.org/officeDocument/2006/relationships/notesSlide" Target="/ppt/notesSlides/notesSlide2.xml" Id="R65a665bf419f46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c4f97f9df443f" /><Relationship Type="http://schemas.openxmlformats.org/officeDocument/2006/relationships/notesSlide" Target="/ppt/notesSlides/notesSlide3.xml" Id="Rc306bbbfc1064c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cd07af0bc4011" /><Relationship Type="http://schemas.openxmlformats.org/officeDocument/2006/relationships/notesSlide" Target="/ppt/notesSlides/notesSlide4.xml" Id="Raa2da49ea3184e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355b35b784424" /><Relationship Type="http://schemas.openxmlformats.org/officeDocument/2006/relationships/notesSlide" Target="/ppt/notesSlides/notesSlide5.xml" Id="R5fa0f62e334243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18c9ec7aa4d59" /><Relationship Type="http://schemas.openxmlformats.org/officeDocument/2006/relationships/notesSlide" Target="/ppt/notesSlides/notesSlide6.xml" Id="R28fe6d68c40441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f5d492d634ff8" /><Relationship Type="http://schemas.openxmlformats.org/officeDocument/2006/relationships/notesSlide" Target="/ppt/notesSlides/notesSlide7.xml" Id="Rac8ea884ab7748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e48f1e02a4e20" /><Relationship Type="http://schemas.openxmlformats.org/officeDocument/2006/relationships/notesSlide" Target="/ppt/notesSlides/notesSlide8.xml" Id="R6eae3c1be8d840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54ecb27c84700" /><Relationship Type="http://schemas.openxmlformats.org/officeDocument/2006/relationships/notesSlide" Target="/ppt/notesSlides/notesSlide9.xml" Id="Rf80f251dda9045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98a1194904e94" /><Relationship Type="http://schemas.openxmlformats.org/officeDocument/2006/relationships/notesSlide" Target="/ppt/notesSlides/notesSlide10.xml" Id="R9cfeb156f54b43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7c1dbecd94c95" /><Relationship Type="http://schemas.openxmlformats.org/officeDocument/2006/relationships/notesSlide" Target="/ppt/notesSlides/notesSlide11.xml" Id="R41445d1855d94b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016c63086499c" /><Relationship Type="http://schemas.openxmlformats.org/officeDocument/2006/relationships/image" Target="/ppt/media/image.png" Id="Ra14dce57e4714a2b" /><Relationship Type="http://schemas.openxmlformats.org/officeDocument/2006/relationships/notesSlide" Target="/ppt/notesSlides/notesSlide12.xml" Id="R7658f9e79cf044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a070f0c464d9d" /><Relationship Type="http://schemas.openxmlformats.org/officeDocument/2006/relationships/notesSlide" Target="/ppt/notesSlides/notesSlide13.xml" Id="R68df8292166443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8fcddaddb4c17" /><Relationship Type="http://schemas.openxmlformats.org/officeDocument/2006/relationships/notesSlide" Target="/ppt/notesSlides/notesSlide14.xml" Id="R41ea0cf657654f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07caf82964c9e" /><Relationship Type="http://schemas.openxmlformats.org/officeDocument/2006/relationships/notesSlide" Target="/ppt/notesSlides/notesSlide15.xml" Id="R47dd9b51021a4f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dff44289d463d" /><Relationship Type="http://schemas.openxmlformats.org/officeDocument/2006/relationships/image" Target="/ppt/media/image2.png" Id="R03f11ea3f1054b12" /><Relationship Type="http://schemas.openxmlformats.org/officeDocument/2006/relationships/notesSlide" Target="/ppt/notesSlides/notesSlide16.xml" Id="R6ec29e90c79a41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0fa382c2a4480" /><Relationship Type="http://schemas.openxmlformats.org/officeDocument/2006/relationships/notesSlide" Target="/ppt/notesSlides/notesSlide17.xml" Id="R0b3fcd10b2e940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cad52b5fd4402" /><Relationship Type="http://schemas.openxmlformats.org/officeDocument/2006/relationships/notesSlide" Target="/ppt/notesSlides/notesSlide18.xml" Id="R1351cc0c20934c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522a5d9894a29" /><Relationship Type="http://schemas.openxmlformats.org/officeDocument/2006/relationships/notesSlide" Target="/ppt/notesSlides/notesSlide19.xml" Id="Ra2fcb0c6facf4b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5b1958035411a" /><Relationship Type="http://schemas.openxmlformats.org/officeDocument/2006/relationships/notesSlide" Target="/ppt/notesSlides/notesSlide20.xml" Id="R7e2b7db1ef9345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1cf9a1d7f466c" /><Relationship Type="http://schemas.openxmlformats.org/officeDocument/2006/relationships/image" Target="/ppt/media/image3.png" Id="R62d9ad1f6cbd4b01" /><Relationship Type="http://schemas.openxmlformats.org/officeDocument/2006/relationships/notesSlide" Target="/ppt/notesSlides/notesSlide21.xml" Id="R4adb86ca91dd47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50ae24ed24524" /><Relationship Type="http://schemas.openxmlformats.org/officeDocument/2006/relationships/notesSlide" Target="/ppt/notesSlides/notesSlide22.xml" Id="R8b6556a855f44a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5ebeef382455b" /><Relationship Type="http://schemas.openxmlformats.org/officeDocument/2006/relationships/notesSlide" Target="/ppt/notesSlides/notesSlide23.xml" Id="R9a1fdab4cb5045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1125b1ae54238" /><Relationship Type="http://schemas.openxmlformats.org/officeDocument/2006/relationships/notesSlide" Target="/ppt/notesSlides/notesSlide24.xml" Id="R12b34ac70f0c47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27343590842ec" /><Relationship Type="http://schemas.openxmlformats.org/officeDocument/2006/relationships/notesSlide" Target="/ppt/notesSlides/notesSlide25.xml" Id="Rcd4734b9b76743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a8aa8c8674ed2" /><Relationship Type="http://schemas.openxmlformats.org/officeDocument/2006/relationships/notesSlide" Target="/ppt/notesSlides/notesSlide26.xml" Id="Rac843d8cf35349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28d06a17c41cb" /><Relationship Type="http://schemas.openxmlformats.org/officeDocument/2006/relationships/notesSlide" Target="/ppt/notesSlides/notesSlide27.xml" Id="R0f357363d03c42c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c7a3475914633" /><Relationship Type="http://schemas.openxmlformats.org/officeDocument/2006/relationships/notesSlide" Target="/ppt/notesSlides/notesSlide28.xml" Id="Rc3b5b1f3fe1744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78097788249c6" /><Relationship Type="http://schemas.openxmlformats.org/officeDocument/2006/relationships/notesSlide" Target="/ppt/notesSlides/notesSlide29.xml" Id="Rb294d5cd8c594ba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c4c06408dd4916" /><Relationship Type="http://schemas.openxmlformats.org/officeDocument/2006/relationships/notesSlide" Target="/ppt/notesSlides/notesSlide30.xml" Id="R0ec564b80639477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db6e12dcf4cfc" /><Relationship Type="http://schemas.openxmlformats.org/officeDocument/2006/relationships/notesSlide" Target="/ppt/notesSlides/notesSlide31.xml" Id="Rb9995a5722b24e1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8470ea8294228" /><Relationship Type="http://schemas.openxmlformats.org/officeDocument/2006/relationships/notesSlide" Target="/ppt/notesSlides/notesSlide32.xml" Id="Rd573a628beba4b1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89f0a3b234b56" /><Relationship Type="http://schemas.openxmlformats.org/officeDocument/2006/relationships/notesSlide" Target="/ppt/notesSlides/notesSlide33.xml" Id="Rcadb44e75b7045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DA7D4CE7-2D07-452A-BB51-A6A3985A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BDBDB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BDBDBD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DBDBD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9F406D9B-224F-4247-B8A2-85B96740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1">
            <a:extLst xmlns:a="http://schemas.openxmlformats.org/drawingml/2006/main">
              <a:ext uri="{FF2B5EF4-FFF2-40B4-BE49-F238E27FC236}">
                <a16:creationId xmlns:a16="http://schemas.microsoft.com/office/drawing/2014/main" id="{3AF079F3-AA18-4FDB-8315-6414F085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001</a:t>
            </a:r>
          </a:p>
        </p:txBody>
      </p:sp>
      <p:sp>
        <p:nvSpPr>
          <p:cNvPr id="5" name="Nav2 자율주행">
            <a:extLst xmlns:a="http://schemas.openxmlformats.org/drawingml/2006/main">
              <a:ext uri="{FF2B5EF4-FFF2-40B4-BE49-F238E27FC236}">
                <a16:creationId xmlns:a16="http://schemas.microsoft.com/office/drawing/2014/main" id="{63A63313-E359-4E8E-A043-AD851CE9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92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Isaac Sim · Lab 실습</a:t>
            </a:r>
          </a:p>
        </p:txBody>
      </p:sp>
      <p:sp>
        <p:nvSpPr>
          <p:cNvPr id="6" name="알고리즘 선택 · AMCL · 파라미터 조정">
            <a:extLst xmlns:a="http://schemas.openxmlformats.org/drawingml/2006/main">
              <a:ext uri="{FF2B5EF4-FFF2-40B4-BE49-F238E27FC236}">
                <a16:creationId xmlns:a16="http://schemas.microsoft.com/office/drawing/2014/main" id="{923F7873-5A0B-4AC5-9663-F3F46138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Windows와 Ubuntu 실행 코드</a:t>
            </a:r>
          </a:p>
        </p:txBody>
      </p:sp>
      <p:sp>
        <p:nvSpPr>
          <p:cNvPr id="7" name="TurtleBot3 Waffle / ROS 2 Lyrical">
            <a:extLst xmlns:a="http://schemas.openxmlformats.org/drawingml/2006/main">
              <a:ext uri="{FF2B5EF4-FFF2-40B4-BE49-F238E27FC236}">
                <a16:creationId xmlns:a16="http://schemas.microsoft.com/office/drawing/2014/main" id="{0966B69E-A060-4475-BDCC-EAE18B3A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Isaac Sim 6.1 / Isaac Lab 3.0 EA · 8 GB 소형 실습</a:t>
            </a:r>
          </a:p>
        </p:txBody>
      </p:sp>
      <p:sp>
        <p:nvSpPr>
          <p:cNvPr id="8" name="2026.10.15 · PA Lv.2">
            <a:extLst xmlns:a="http://schemas.openxmlformats.org/drawingml/2006/main">
              <a:ext uri="{FF2B5EF4-FFF2-40B4-BE49-F238E27FC236}">
                <a16:creationId xmlns:a16="http://schemas.microsoft.com/office/drawing/2014/main" id="{F48BAE26-10C9-4518-B4FE-D2BAE7C5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2026.10.19 · KANT</a:t>
            </a:r>
          </a:p>
        </p:txBody>
      </p:sp>
    </p:spTree>
    <p:extLst>
      <p:ext uri="{BB962C8B-B14F-4D97-AF65-F5344CB8AC3E}">
        <p14:creationId xmlns:p14="http://schemas.microsoft.com/office/powerpoint/2010/main" val="2007403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E04655EC-1CA1-4A1C-9E9E-B949025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F9B6EB1F-E790-4327-BFBA-3A7FC952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95E2E673-D3F0-4195-A651-6E4537A9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002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C02D9F31-DF87-4B39-A3C3-6C383AA5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실습과 결과 파일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C212A-2348-4A4F-9844-3FD8402B0C00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3114675"/>
                <a:gridCol w="3524250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실행할 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확인할 결과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질량이 다른 두 상자 낙하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USD 장면, 높이 CSV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seed가 다른 장면 촬영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RGB, 깊이 NPY, 메타데이터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거리·시간·충돌에 따른 점수 계산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계산표, 보상 설계 답안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강화학습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Cartpole 무작위 행동·PPO·재생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로그, 체크포인트, 관찰표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설치와 첫 실행을 준비한 뒤 실습을 순서대로 진행한다.">
            <a:extLst xmlns:a="http://schemas.openxmlformats.org/drawingml/2006/main">
              <a:ext uri="{FF2B5EF4-FFF2-40B4-BE49-F238E27FC236}">
                <a16:creationId xmlns:a16="http://schemas.microsoft.com/office/drawing/2014/main" id="{EBD4645D-D822-4490-9D1E-B0BB6706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설치와 첫 실행을 준비한 뒤 실습을 순서대로 진행한다.</a:t>
            </a:r>
          </a:p>
        </p:txBody>
      </p:sp>
    </p:spTree>
    <p:extLst>
      <p:ext uri="{BB962C8B-B14F-4D97-AF65-F5344CB8AC3E}">
        <p14:creationId xmlns:p14="http://schemas.microsoft.com/office/powerpoint/2010/main" val="1322377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9EB2D1FB-B87B-4B55-85DD-6BCC585A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5991D10E-5E4D-4D71-BD7D-EA23F7BA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D8488362-D519-4567-B41A-0C2394FA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003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172A9960-389C-4E3E-8C86-230CB9AF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 PC와 버전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F1B2D-001C-47AE-806C-940F1E7333F8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3314700"/>
                <a:gridCol w="3324225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Ubuntu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운영체제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Windows 11 x64 / Python 3.12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Ubuntu 24.04 x86_64 / Python 3.12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터미널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PowerShell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 / Lab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 6.1.0.0 / Lab v3.0.0-EA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 6.1.0.0 / Lab v3.0.0-EA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 최소 예시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RAM 32 GB / VRAM 16 GB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RAM 32 GB / VRAM 16 GB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시험 드라이버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595.97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595.58.03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8 GB는 공식 최소 16 GB 미만이다. 아래 소형 설정도 실">
            <a:extLst xmlns:a="http://schemas.openxmlformats.org/drawingml/2006/main">
              <a:ext uri="{FF2B5EF4-FFF2-40B4-BE49-F238E27FC236}">
                <a16:creationId xmlns:a16="http://schemas.microsoft.com/office/drawing/2014/main" id="{561C7E9E-2AB1-4A82-90F5-84D527A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8 GB는 공식 최소 16 GB 미만이다. 아래 소형 설정도 실행을 보장하지 않으며 PC별 확인이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355034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6AD3AB08-7418-4328-844C-E1DA18A7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CDC56041-1606-49FD-AA5F-102997F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7D0B6A89-1FE4-467B-87B0-51F04E5F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004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37E2F636-36EF-4BDC-983E-E3344C58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8 GB 실습 설정과 VM 제한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3BC6C-1D9F-4DBC-8340-D2A955787A68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952750"/>
                <a:gridCol w="3352800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 설정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사항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 화면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640 × 360 / AA 끄기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빈 장면부터 시작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320 × 240 / 카메라 1개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RGB·깊이 파일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Cartpole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환경 1개 / 작은 과제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 실행 후 환경 수 증가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Ubuntu VirtualBox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패키지 설치·CPU 보상 예제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VMSVGA는 NVIDIA RTX가 아님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Ubuntu GPU 실행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NVIDIA GPU를 직접 쓰는 환경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네이티브 설치 또는 적합한 GPU VM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headless도 Isaac Sim의 NVIDIA GPU 요구를">
            <a:extLst xmlns:a="http://schemas.openxmlformats.org/drawingml/2006/main">
              <a:ext uri="{FF2B5EF4-FFF2-40B4-BE49-F238E27FC236}">
                <a16:creationId xmlns:a16="http://schemas.microsoft.com/office/drawing/2014/main" id="{6C9CCC57-10B6-4D38-A665-04F96102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headless도 Isaac Sim의 NVIDIA GPU 요구를 없애지 않는다. VM 설치 완료와 Sim 실행 성공을 구분한다.</a:t>
            </a:r>
          </a:p>
        </p:txBody>
      </p:sp>
    </p:spTree>
    <p:extLst>
      <p:ext uri="{BB962C8B-B14F-4D97-AF65-F5344CB8AC3E}">
        <p14:creationId xmlns:p14="http://schemas.microsoft.com/office/powerpoint/2010/main" val="423415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06197979-E0FD-4EBF-B01E-8A3D266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5DEDF5CC-3750-4AC4-9150-BE6EA855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2C668D3E-4B9B-4E04-80F6-9A6E1F55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005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7C20B5CC-B949-493F-AEAF-AAFE944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 ZIP과 작업 폴더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7D18AC36-26C4-4FA0-AD0E-7FD76B4E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51F8C46F-A920-4FEA-B058-5A1147D4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8120BE4F-3539-4327-AFE6-A5D8530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C:\isaac-course\windows_lab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Get-ChildItem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Get-ChildItem .\examples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4A77E302-3E06-4345-9DCB-986206D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"$HOME/pa-course/windows_lab"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ls examples</a:t>
            </a:r>
          </a:p>
        </p:txBody>
      </p:sp>
      <p:sp>
        <p:nvSpPr>
          <p:cNvPr id="10" name="examples 폴더와 README.md가 현재 폴더에 보이면 ">
            <a:extLst xmlns:a="http://schemas.openxmlformats.org/drawingml/2006/main">
              <a:ext uri="{FF2B5EF4-FFF2-40B4-BE49-F238E27FC236}">
                <a16:creationId xmlns:a16="http://schemas.microsoft.com/office/drawing/2014/main" id="{8658FDB4-B097-4E4A-B223-2534B601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examples 폴더와 README.md가 현재 폴더에 보이면 준비 완료</a:t>
            </a:r>
          </a:p>
        </p:txBody>
      </p:sp>
      <p:sp>
        <p:nvSpPr>
          <p:cNvPr id="11" name="ZIP 안의 windows_lab 폴더를 왼쪽·오른쪽 경로에 각">
            <a:extLst xmlns:a="http://schemas.openxmlformats.org/drawingml/2006/main">
              <a:ext uri="{FF2B5EF4-FFF2-40B4-BE49-F238E27FC236}">
                <a16:creationId xmlns:a16="http://schemas.microsoft.com/office/drawing/2014/main" id="{4A84EB89-0FB3-4BCA-A0AF-625EFFE5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ZIP 안의 windows_lab 폴더를 왼쪽·오른쪽 경로에 각각 놓는다.</a:t>
            </a:r>
          </a:p>
        </p:txBody>
      </p:sp>
    </p:spTree>
    <p:extLst>
      <p:ext uri="{BB962C8B-B14F-4D97-AF65-F5344CB8AC3E}">
        <p14:creationId xmlns:p14="http://schemas.microsoft.com/office/powerpoint/2010/main" val="1551167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B911EB46-37B4-4F01-B073-382DE08B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49D49215-CB42-450A-9AFC-CA0C782D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5FAB0C29-213F-4479-AC47-FBFB34D3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006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64C6985E-7D1F-419D-A37E-2B8C3E22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기본 도구 준비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87A3ED37-D5EF-4A98-A175-944F7EA5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7797AB56-7FBA-4E2A-9ED1-DCB3FAF2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AF43C962-903B-44CA-8F72-1A4A9C69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Python 3.12 x64와 Git을 먼저 설치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긴 경로 설정은 관리자 PowerShell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$key = 'HKLM:\SYSTEM\CurrentControlSet'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$key += '\Control\FileSystem'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New-ItemProperty -Path $key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-Name LongPathsEnabled -Value 1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-PropertyType DWORD -Force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487840CD-2EC4-4802-98DE-8EF34B7A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sudo apt update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sudo apt install -y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git curl build-essential cmake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python3.12-venv python3-pip</a:t>
            </a:r>
          </a:p>
        </p:txBody>
      </p:sp>
      <p:sp>
        <p:nvSpPr>
          <p:cNvPr id="10" name="Windows는 새 일반 PowerShell을 연다. Ubunt">
            <a:extLst xmlns:a="http://schemas.openxmlformats.org/drawingml/2006/main">
              <a:ext uri="{FF2B5EF4-FFF2-40B4-BE49-F238E27FC236}">
                <a16:creationId xmlns:a16="http://schemas.microsoft.com/office/drawing/2014/main" id="{FCB99074-4F43-468F-83CD-F9E65D63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Windows는 새 일반 PowerShell을 연다. Ubuntu는 설치가 정상 종료되어야 한다.</a:t>
            </a:r>
          </a:p>
        </p:txBody>
      </p:sp>
      <p:sp>
        <p:nvSpPr>
          <p:cNvPr id="11" name="Windows Python·Git 공식 설치 링크는 발표자 노트">
            <a:extLst xmlns:a="http://schemas.openxmlformats.org/drawingml/2006/main">
              <a:ext uri="{FF2B5EF4-FFF2-40B4-BE49-F238E27FC236}">
                <a16:creationId xmlns:a16="http://schemas.microsoft.com/office/drawing/2014/main" id="{D407B25A-001D-4F74-884E-13989F6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Windows Python·Git 공식 설치 링크는 발표자 노트와 실행 안내에 있다.</a:t>
            </a:r>
          </a:p>
        </p:txBody>
      </p:sp>
    </p:spTree>
    <p:extLst>
      <p:ext uri="{BB962C8B-B14F-4D97-AF65-F5344CB8AC3E}">
        <p14:creationId xmlns:p14="http://schemas.microsoft.com/office/powerpoint/2010/main" val="2065515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D492BAEF-7076-4A54-B531-176674E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7960A648-5F37-4CA7-8019-9363303B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56E31BBC-25EA-4589-AAFC-46CA2922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007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02BAD8B1-519C-4302-85CA-30DB1A3C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GPU와 Python 확인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629FA7EE-C7DF-4ED1-9990-87144CC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89803474-7B26-4283-821D-4D0E23E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03BF94DC-81D2-41A4-BBDF-A88F822C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nvidia-smi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 -3.12 --version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git --version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4AD18A26-E974-4FE8-94A1-7D20089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nvidia-smi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python3.12 --version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git --version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free -h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df -h "$HOME"</a:t>
            </a:r>
          </a:p>
        </p:txBody>
      </p:sp>
      <p:sp>
        <p:nvSpPr>
          <p:cNvPr id="10" name="GPU 이름·VRAM·드라이버와 Python 3.12가 표시되는">
            <a:extLst xmlns:a="http://schemas.openxmlformats.org/drawingml/2006/main">
              <a:ext uri="{FF2B5EF4-FFF2-40B4-BE49-F238E27FC236}">
                <a16:creationId xmlns:a16="http://schemas.microsoft.com/office/drawing/2014/main" id="{C5640762-EB1F-4AFE-A91D-3CC2C12F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GPU 이름·VRAM·드라이버와 Python 3.12가 표시되는지 확인</a:t>
            </a:r>
          </a:p>
        </p:txBody>
      </p:sp>
      <p:sp>
        <p:nvSpPr>
          <p:cNvPr id="11" name="nvidia-smi의 CUDA 표시는 드라이버가 지원하는 수준이">
            <a:extLst xmlns:a="http://schemas.openxmlformats.org/drawingml/2006/main">
              <a:ext uri="{FF2B5EF4-FFF2-40B4-BE49-F238E27FC236}">
                <a16:creationId xmlns:a16="http://schemas.microsoft.com/office/drawing/2014/main" id="{FC769E78-A17B-4231-B06F-407E0E01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nvidia-smi의 CUDA 표시는 드라이버가 지원하는 수준이다.</a:t>
            </a:r>
          </a:p>
        </p:txBody>
      </p:sp>
    </p:spTree>
    <p:extLst>
      <p:ext uri="{BB962C8B-B14F-4D97-AF65-F5344CB8AC3E}">
        <p14:creationId xmlns:p14="http://schemas.microsoft.com/office/powerpoint/2010/main" val="967791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123DE599-9F2B-4850-BF38-F8AA039C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56DF9CBD-EE3C-4DB1-84FA-FC1683F3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0B4CE862-C6D6-4D96-AA72-A564D298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008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07D0E985-81B2-4E1E-8549-125F66E1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uv 설치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7E78CFB8-1290-4467-8BED-F67AD20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718B0AA3-843D-4ADF-A08E-AE6DABE3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A939EC7C-A1C6-463A-8DCD-FD175D2B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$url = 'https://astral.sh/uv/install.ps1'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irm $url | iex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$env:Path = "$env:USERPROFILE" +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"\.local\bin;" + $env:Path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--version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06C9A1D0-E876-48DC-B43D-2B811C53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curl -LsSf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https://astral.sh/uv/install.sh | sh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export PATH="$HOME/.local/bin:$PATH"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--version</a:t>
            </a:r>
          </a:p>
        </p:txBody>
      </p:sp>
      <p:sp>
        <p:nvSpPr>
          <p:cNvPr id="10" name="uv 버전이 출력되면 Lab 설치 도구 준비 완료">
            <a:extLst xmlns:a="http://schemas.openxmlformats.org/drawingml/2006/main">
              <a:ext uri="{FF2B5EF4-FFF2-40B4-BE49-F238E27FC236}">
                <a16:creationId xmlns:a16="http://schemas.microsoft.com/office/drawing/2014/main" id="{8ACBDFF5-5720-45DB-8899-45F35ECF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버전이 출력되면 Lab 설치 도구 준비 완료</a:t>
            </a:r>
          </a:p>
        </p:txBody>
      </p:sp>
      <p:sp>
        <p:nvSpPr>
          <p:cNvPr id="11" name="명령을 찾지 못하면 새 터미널을 열고 다시 확인한다.">
            <a:extLst xmlns:a="http://schemas.openxmlformats.org/drawingml/2006/main">
              <a:ext uri="{FF2B5EF4-FFF2-40B4-BE49-F238E27FC236}">
                <a16:creationId xmlns:a16="http://schemas.microsoft.com/office/drawing/2014/main" id="{B7999A1F-283D-4E79-B24A-44922383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명령을 찾지 못하면 새 터미널을 열고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191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9D4BA30D-77C3-4C72-A59A-C2F3205A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1949A8C2-5F23-41C4-9E7C-2BB45CDE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553D98D5-1498-419A-8B41-1D0C0534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009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F3AEA774-5AA1-484F-AF21-ADBAA77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Isaac Sim 전용 Python 환경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6824EBDE-0581-4911-9C7E-2C466690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A57C5F58-7589-40DA-B99F-DFE828D0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12C30C40-8AFA-436D-8F1C-299BD682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$venv = 'C:\isaac-course\simenv'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if (Test-Path $venv) {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throw '기존 폴더를 먼저 확인하세요.'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}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 -3.12 -m venv $venv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$py = "$venv\Scripts\python.exe"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-m pip install --upgrade pip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19CC3F6B-D3B8-4944-81AC-80AAA73B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VENV="$HOME/pa-course/.venv-isaacsim"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test ! -e "$VENV" || exit 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python3.12 -m venv "$VENV"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PY="$VENV/bin/python"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-m pip install --upgrade pip</a:t>
            </a:r>
          </a:p>
        </p:txBody>
      </p:sp>
      <p:sp>
        <p:nvSpPr>
          <p:cNvPr id="10" name="이후 Sim 명령은 Windows의 $py, Ubuntu의 $P">
            <a:extLst xmlns:a="http://schemas.openxmlformats.org/drawingml/2006/main">
              <a:ext uri="{FF2B5EF4-FFF2-40B4-BE49-F238E27FC236}">
                <a16:creationId xmlns:a16="http://schemas.microsoft.com/office/drawing/2014/main" id="{504A22A0-4F25-497E-BD1D-2DE364DB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이후 Sim 명령은 Windows의 $py, Ubuntu의 $PY를 사용</a:t>
            </a:r>
          </a:p>
        </p:txBody>
      </p:sp>
      <p:sp>
        <p:nvSpPr>
          <p:cNvPr id="11" name="이미 설치한 6.1 환경이 있으면 새로 만들지 않고 다음 장의 ">
            <a:extLst xmlns:a="http://schemas.openxmlformats.org/drawingml/2006/main">
              <a:ext uri="{FF2B5EF4-FFF2-40B4-BE49-F238E27FC236}">
                <a16:creationId xmlns:a16="http://schemas.microsoft.com/office/drawing/2014/main" id="{E2F6DDC3-5674-4748-9A59-1200316E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이미 설치한 6.1 환경이 있으면 새로 만들지 않고 다음 장의 경로 변수만 설정한다.</a:t>
            </a:r>
          </a:p>
        </p:txBody>
      </p:sp>
    </p:spTree>
    <p:extLst>
      <p:ext uri="{BB962C8B-B14F-4D97-AF65-F5344CB8AC3E}">
        <p14:creationId xmlns:p14="http://schemas.microsoft.com/office/powerpoint/2010/main" val="6887506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6BF68E7A-B78C-4B60-87FF-FF3B6398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C09DD111-F5CA-402C-955D-FA4F0CAD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05D9762F-5555-4E7E-B86C-7861DFF6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010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B8CC5BA9-D8AA-4F03-A811-81CD8848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Isaac Sim 6.1 패키지 설치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04DAF528-CCE2-42AE-82F4-2F546214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F52ACF78-ED71-4EE7-8083-C49ED192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614933F4-6975-4B61-8EFC-37265B15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$py = 'C:\isaac-course\simenv' +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'\Scripts\python.exe'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$base = 'https://download.pytorch.org'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-m pip install torch==2.11.0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--index-url "$base/whl/cu130"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-m pip install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'isaacsim[all,extscache]==6.1.0.0'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--extra-index-url https://pypi.nvidia.com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-m pip check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294ACAEE-20EC-4DE5-BF44-B31FBD7E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VENV="$HOME/pa-course/.venv-isaacsim"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PY="$VENV/bin/python"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BASE='https://download.pytorch.org'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-m pip install torch==2.11.0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--index-url "$BASE/whl/cu130"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-m pip install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'isaacsim[all,extscache]==6.1.0.0'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--extra-index-url https://pypi.nvidia.com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-m pip check</a:t>
            </a:r>
          </a:p>
        </p:txBody>
      </p:sp>
      <p:sp>
        <p:nvSpPr>
          <p:cNvPr id="10" name="pip check에서 의존성 오류가 없는지 확인한 뒤 다음 단계">
            <a:extLst xmlns:a="http://schemas.openxmlformats.org/drawingml/2006/main">
              <a:ext uri="{FF2B5EF4-FFF2-40B4-BE49-F238E27FC236}">
                <a16:creationId xmlns:a16="http://schemas.microsoft.com/office/drawing/2014/main" id="{6FDF5134-0841-4547-8EC4-47DBF20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pip check에서 의존성 오류가 없는지 확인한 뒤 다음 단계로 이동</a:t>
            </a:r>
          </a:p>
        </p:txBody>
      </p:sp>
      <p:sp>
        <p:nvSpPr>
          <p:cNvPr id="11" name="각 명령이 성공한 뒤 다음 명령을 실행한다. CUDA 13을 지">
            <a:extLst xmlns:a="http://schemas.openxmlformats.org/drawingml/2006/main">
              <a:ext uri="{FF2B5EF4-FFF2-40B4-BE49-F238E27FC236}">
                <a16:creationId xmlns:a16="http://schemas.microsoft.com/office/drawing/2014/main" id="{F666040B-FA0E-48F1-8FB4-CCC9D578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각 명령이 성공한 뒤 다음 명령을 실행한다. CUDA 13을 지원하는 드라이버가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340130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ED6926FD-90FC-476E-AE2E-164CF6C6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0021E722-C069-4972-92DF-C81EFDDB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28EF3B52-53B3-4440-9497-7C0F985C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011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D413A702-4584-48CC-9D9A-32D528E6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호환성 검사와 첫 실행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DE704372-9839-45AD-A020-84B20472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A1BD8288-A5AB-4A25-AEC1-7EFB6301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B8C81655-8B15-4F69-B145-C80A81AA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$sim = 'C:\isaac-course\simenv' +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'\Scripts\isaacsim.exe'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$sim isaacsim.exp.compatibility_check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검사 창을 닫은 뒤 실행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$sim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9732FE4B-0E1A-4D96-84CF-FABB5A2C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VENV="$HOME/pa-course/.venv-isaacsim"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SIM="$VENV/bin/isaacsim"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"$SIM" isaacsim.exp.compatibility_check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검사 창을 닫은 뒤 실행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27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"$SIM"</a:t>
            </a:r>
          </a:p>
        </p:txBody>
      </p:sp>
      <p:sp>
        <p:nvSpPr>
          <p:cNvPr id="10" name="호환성 검사와 기본 화면을 확인한 뒤 Sim을 종료">
            <a:extLst xmlns:a="http://schemas.openxmlformats.org/drawingml/2006/main">
              <a:ext uri="{FF2B5EF4-FFF2-40B4-BE49-F238E27FC236}">
                <a16:creationId xmlns:a16="http://schemas.microsoft.com/office/drawing/2014/main" id="{16487F9A-8A79-49C5-8931-1835A232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호환성 검사와 기본 화면을 확인한 뒤 Sim을 종료</a:t>
            </a:r>
          </a:p>
        </p:txBody>
      </p:sp>
      <p:sp>
        <p:nvSpPr>
          <p:cNvPr id="11" name="첫 실행은 약관 확인·확장 다운로드·셰이더 준비가 필요하다.">
            <a:extLst xmlns:a="http://schemas.openxmlformats.org/drawingml/2006/main">
              <a:ext uri="{FF2B5EF4-FFF2-40B4-BE49-F238E27FC236}">
                <a16:creationId xmlns:a16="http://schemas.microsoft.com/office/drawing/2014/main" id="{636D9947-478A-4208-84EB-48A4C7CE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첫 실행은 약관 확인·확장 다운로드·셰이더 준비가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282825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85FCBFAE-F87C-46A2-A4FE-42612ACC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F4CF929E-DAAB-44D5-8B1B-614A8BF5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6D4A36B7-7749-46F6-8694-FB68DC9F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012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FA1A8391-F279-4ADA-BE22-2E35000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 1 · 상자 낙하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D3F5C-5FA4-4DBE-B009-D778D2990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dce57e4714a2b"/>
          <a:stretch xmlns:a="http://schemas.openxmlformats.org/drawingml/2006/main"/>
        </p:blipFill>
        <p:spPr>
          <a:xfrm xmlns:a="http://schemas.openxmlformats.org/drawingml/2006/main">
            <a:off x="609600" y="1711300"/>
            <a:ext cx="4667250" cy="2530525"/>
          </a:xfrm>
          <a:prstGeom xmlns:a="http://schemas.openxmlformats.org/drawingml/2006/main" prst="rect">
            <a:avLst/>
          </a:prstGeom>
        </p:spPr>
      </p:pic>
      <p:sp>
        <p:nvSpPr>
          <p:cNvPr id="7" name="입력 조건">
            <a:extLst xmlns:a="http://schemas.openxmlformats.org/drawingml/2006/main">
              <a:ext uri="{FF2B5EF4-FFF2-40B4-BE49-F238E27FC236}">
                <a16:creationId xmlns:a16="http://schemas.microsoft.com/office/drawing/2014/main" id="{4C648C16-54AF-4ACB-8AC2-CB7E9DE5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81150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입력 조건</a:t>
            </a:r>
          </a:p>
        </p:txBody>
      </p:sp>
      <p:sp>
        <p:nvSpPr>
          <p:cNvPr id="8" name="중심 높이 2 m&#10;질량 1 kg과 10 kg">
            <a:extLst xmlns:a="http://schemas.openxmlformats.org/drawingml/2006/main">
              <a:ext uri="{FF2B5EF4-FFF2-40B4-BE49-F238E27FC236}">
                <a16:creationId xmlns:a16="http://schemas.microsoft.com/office/drawing/2014/main" id="{4BF02800-529D-4ADB-AD8A-0E7BF247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85950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중심 높이 2 m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질량 1 kg과 10 kg</a:t>
            </a:r>
          </a:p>
        </p:txBody>
      </p:sp>
      <p:sp>
        <p:nvSpPr>
          <p:cNvPr id="9" name="관찰">
            <a:extLst xmlns:a="http://schemas.openxmlformats.org/drawingml/2006/main">
              <a:ext uri="{FF2B5EF4-FFF2-40B4-BE49-F238E27FC236}">
                <a16:creationId xmlns:a16="http://schemas.microsoft.com/office/drawing/2014/main" id="{A3F1EC69-8C35-450B-87F7-68D1D6F2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24125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관찰</a:t>
            </a:r>
          </a:p>
        </p:txBody>
      </p:sp>
      <p:sp>
        <p:nvSpPr>
          <p:cNvPr id="10" name="무거운 상자가 먼저 닿는가?&#10;마지막 중심 높이는 얼마인가?">
            <a:extLst xmlns:a="http://schemas.openxmlformats.org/drawingml/2006/main">
              <a:ext uri="{FF2B5EF4-FFF2-40B4-BE49-F238E27FC236}">
                <a16:creationId xmlns:a16="http://schemas.microsoft.com/office/drawing/2014/main" id="{26F152F2-CBE5-424F-8D47-3D89A69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28925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무거운 상자가 먼저 닿는가?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마지막 중심 높이는 얼마인가?</a:t>
            </a:r>
          </a:p>
        </p:txBody>
      </p:sp>
      <p:sp>
        <p:nvSpPr>
          <p:cNvPr id="11" name="저장">
            <a:extLst xmlns:a="http://schemas.openxmlformats.org/drawingml/2006/main">
              <a:ext uri="{FF2B5EF4-FFF2-40B4-BE49-F238E27FC236}">
                <a16:creationId xmlns:a16="http://schemas.microsoft.com/office/drawing/2014/main" id="{92D534E1-F997-48CE-9587-D41C7FA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12" name="시작 장면 USD&#10;물리 시각별 높이 CSV">
            <a:extLst xmlns:a="http://schemas.openxmlformats.org/drawingml/2006/main">
              <a:ext uri="{FF2B5EF4-FFF2-40B4-BE49-F238E27FC236}">
                <a16:creationId xmlns:a16="http://schemas.microsoft.com/office/drawing/2014/main" id="{DDE3250C-9EC7-4F91-A5EA-9F53B23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71900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시작 장면 USD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물리 시각별 높이 CSV</a:t>
            </a:r>
          </a:p>
        </p:txBody>
      </p:sp>
      <p:sp>
        <p:nvSpPr>
          <p:cNvPr id="13" name="공식 UI 참고 화면. 다음 코드의 실제 실행 결과는 직접 확인">
            <a:extLst xmlns:a="http://schemas.openxmlformats.org/drawingml/2006/main">
              <a:ext uri="{FF2B5EF4-FFF2-40B4-BE49-F238E27FC236}">
                <a16:creationId xmlns:a16="http://schemas.microsoft.com/office/drawing/2014/main" id="{DE8221B2-A2A4-4C11-839B-F6BE5F52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공식 UI 참고 화면. 다음 코드의 실제 실행 결과는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35894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E6273CF6-0BB9-4A33-8EC5-4DFB811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4933BB54-3886-4546-82A6-AAEFAD8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E2C49A13-38CC-4C31-9B4B-A7585C3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013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005748BD-7D1E-4BD1-BCFB-7FBCA098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상자 낙하 실행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62FB2745-FCF7-4BA9-AC28-03F4F7EF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64101A1F-CB1F-4B39-BA15-F8B19197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CC08CB30-992D-42D0-80E0-BC831536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C:\isaac-course\windows_lab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$py = 'C:\isaac-course\simenv' +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'\Scripts\python.exe'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.\examples\01_drop_cubes.py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C3DBC3B7-12BA-4445-B549-764C84CD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"$HOME/pa-course/windows_lab"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VENV="$HOME/pa-course/.venv-isaacsim"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PY="$VENV/bin/python"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examples/01_drop_cubes.py</a:t>
            </a:r>
          </a:p>
        </p:txBody>
      </p:sp>
      <p:sp>
        <p:nvSpPr>
          <p:cNvPr id="10" name="두 상자가 떨어지고 outputs에 01_drop_실행시각 폴더">
            <a:extLst xmlns:a="http://schemas.openxmlformats.org/drawingml/2006/main">
              <a:ext uri="{FF2B5EF4-FFF2-40B4-BE49-F238E27FC236}">
                <a16:creationId xmlns:a16="http://schemas.microsoft.com/office/drawing/2014/main" id="{A9DBB99A-D3C0-4011-889A-A7D68AB6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두 상자가 떨어지고 outputs에 01_drop_실행시각 폴더가 생성</a:t>
            </a:r>
          </a:p>
        </p:txBody>
      </p:sp>
      <p:sp>
        <p:nvSpPr>
          <p:cNvPr id="11" name="다른 Sim 창을 닫고 실행한다. 기본 600회 앱 업데이트 후">
            <a:extLst xmlns:a="http://schemas.openxmlformats.org/drawingml/2006/main">
              <a:ext uri="{FF2B5EF4-FFF2-40B4-BE49-F238E27FC236}">
                <a16:creationId xmlns:a16="http://schemas.microsoft.com/office/drawing/2014/main" id="{6CADEFCD-D7DA-4390-9F07-B6919408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다른 Sim 창을 닫고 실행한다. 기본 600회 앱 업데이트 후 종료한다.</a:t>
            </a:r>
          </a:p>
        </p:txBody>
      </p:sp>
    </p:spTree>
    <p:extLst>
      <p:ext uri="{BB962C8B-B14F-4D97-AF65-F5344CB8AC3E}">
        <p14:creationId xmlns:p14="http://schemas.microsoft.com/office/powerpoint/2010/main" val="7258020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FEA0A988-E39F-45DE-9CCA-BA9A9544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B5F346D6-0519-4DCA-AC14-9A6AC2D7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337ABDD8-CD8C-4392-8A85-42FBEB3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014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8FC8D380-506F-46B8-A891-1CDB31E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높이와 중력 바꾸기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3E4E99A5-5852-4AE3-96C5-A1C81C3C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974CFEB4-C7B3-4EBD-B405-4C9FD98E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1480B05F-4146-47E2-BB98-557CE2CD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하나씩 실행하고 종료를 기다린다.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.\examples\01_drop_cubes.py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--height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.\examples\01_drop_cubes.py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--gravity 1.62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244D4C5A-8066-4012-A285-C01F76B0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하나씩 실행하고 종료를 기다린다.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examples/01_drop_cubes.py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--height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examples/01_drop_cubes.py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--gravity 1.62</a:t>
            </a:r>
          </a:p>
        </p:txBody>
      </p:sp>
      <p:sp>
        <p:nvSpPr>
          <p:cNvPr id="10" name="기본 조건·높이 4 m·중력 1.62의 접촉 시각을 각각 기록">
            <a:extLst xmlns:a="http://schemas.openxmlformats.org/drawingml/2006/main">
              <a:ext uri="{FF2B5EF4-FFF2-40B4-BE49-F238E27FC236}">
                <a16:creationId xmlns:a16="http://schemas.microsoft.com/office/drawing/2014/main" id="{13E0C247-5D15-42D6-BD0C-E41125D2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기본 조건·높이 4 m·중력 1.62의 접촉 시각을 각각 기록</a:t>
            </a:r>
          </a:p>
        </p:txBody>
      </p:sp>
      <p:sp>
        <p:nvSpPr>
          <p:cNvPr id="11" name="이전 장의 $py / $PY와 작업 폴더 설정을 유지한다.">
            <a:extLst xmlns:a="http://schemas.openxmlformats.org/drawingml/2006/main">
              <a:ext uri="{FF2B5EF4-FFF2-40B4-BE49-F238E27FC236}">
                <a16:creationId xmlns:a16="http://schemas.microsoft.com/office/drawing/2014/main" id="{C4F21783-2846-47C7-B5DF-B899B1D6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이전 장의 $py / $PY와 작업 폴더 설정을 유지한다.</a:t>
            </a:r>
          </a:p>
        </p:txBody>
      </p:sp>
    </p:spTree>
    <p:extLst>
      <p:ext uri="{BB962C8B-B14F-4D97-AF65-F5344CB8AC3E}">
        <p14:creationId xmlns:p14="http://schemas.microsoft.com/office/powerpoint/2010/main" val="675445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D0D6A518-B383-4CB2-954A-DDA9FDB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82BE55BA-14C8-4678-876F-042F84C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02FCFF57-4D47-44AA-B2F7-BCD4D5C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015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B6A5D291-0C14-420F-9815-B988C602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높이 CSV와 시작 장면 확인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F4321EEE-542E-41DA-8E86-5E085FAC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902178E4-7E7A-444E-826A-E67251FD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26E50650-5587-486F-864F-129C5E35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explorer .\outputs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0CF8C20E-9D29-4964-BA73-1284913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xdg-open ./outputs</a:t>
            </a:r>
          </a:p>
        </p:txBody>
      </p:sp>
      <p:sp>
        <p:nvSpPr>
          <p:cNvPr id="10" name="질문: 상자가 바닥에 있어도 중심 z가 0이 아닌 이유는?">
            <a:extLst xmlns:a="http://schemas.openxmlformats.org/drawingml/2006/main">
              <a:ext uri="{FF2B5EF4-FFF2-40B4-BE49-F238E27FC236}">
                <a16:creationId xmlns:a16="http://schemas.microsoft.com/office/drawing/2014/main" id="{AC1D1BD2-6016-433B-A3BE-CA215B12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792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질문: 상자가 바닥에 있어도 중심 z가 0이 아닌 이유는?</a:t>
            </a:r>
          </a:p>
        </p:txBody>
      </p:sp>
      <p:sp>
        <p:nvSpPr>
          <p:cNvPr id="11" name="01_drop 폴더의 heights.csv와 initial_sc">
            <a:extLst xmlns:a="http://schemas.openxmlformats.org/drawingml/2006/main">
              <a:ext uri="{FF2B5EF4-FFF2-40B4-BE49-F238E27FC236}">
                <a16:creationId xmlns:a16="http://schemas.microsoft.com/office/drawing/2014/main" id="{154A7BD6-FE1D-419A-9F21-03EF9F36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01_drop 폴더의 heights.csv와 initial_scene.usda를 확인</a:t>
            </a:r>
          </a:p>
        </p:txBody>
      </p:sp>
      <p:sp>
        <p:nvSpPr>
          <p:cNvPr id="12" name="CSV에서 z ≤ 0.27 m인 첫 행을 접촉의 근사 시각으로 ">
            <a:extLst xmlns:a="http://schemas.openxmlformats.org/drawingml/2006/main">
              <a:ext uri="{FF2B5EF4-FFF2-40B4-BE49-F238E27FC236}">
                <a16:creationId xmlns:a16="http://schemas.microsoft.com/office/drawing/2014/main" id="{805991FB-D410-4C26-BB8A-59342112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CSV에서 z ≤ 0.27 m인 첫 행을 접촉의 근사 시각으로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2915767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9B8B5C0D-CB7E-4ECE-8DE3-29CF24F3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AF94FEB9-66F1-4E61-83C8-AC0DF877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0EFE0C6D-7F35-41CD-8D3A-6D464730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016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814D3674-A6FF-4F46-906F-ED65D27F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 2 · 카메라와 합성 데이터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739D8-B71F-4E1D-87CF-D8FC3A13C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11ea3f1054b12"/>
          <a:stretch xmlns:a="http://schemas.openxmlformats.org/drawingml/2006/main"/>
        </p:blipFill>
        <p:spPr>
          <a:xfrm xmlns:a="http://schemas.openxmlformats.org/drawingml/2006/main">
            <a:off x="609600" y="1663898"/>
            <a:ext cx="4667250" cy="2625328"/>
          </a:xfrm>
          <a:prstGeom xmlns:a="http://schemas.openxmlformats.org/drawingml/2006/main" prst="rect">
            <a:avLst/>
          </a:prstGeom>
        </p:spPr>
      </p:pic>
      <p:sp>
        <p:nvSpPr>
          <p:cNvPr id="7" name="입력 조건">
            <a:extLst xmlns:a="http://schemas.openxmlformats.org/drawingml/2006/main">
              <a:ext uri="{FF2B5EF4-FFF2-40B4-BE49-F238E27FC236}">
                <a16:creationId xmlns:a16="http://schemas.microsoft.com/office/drawing/2014/main" id="{97CB423C-9932-4845-83BC-94014523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81150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입력 조건</a:t>
            </a:r>
          </a:p>
        </p:txBody>
      </p:sp>
      <p:sp>
        <p:nvSpPr>
          <p:cNvPr id="8" name="seed에 따라 색·위치 변경&#10;해상도 320 × 240">
            <a:extLst xmlns:a="http://schemas.openxmlformats.org/drawingml/2006/main">
              <a:ext uri="{FF2B5EF4-FFF2-40B4-BE49-F238E27FC236}">
                <a16:creationId xmlns:a16="http://schemas.microsoft.com/office/drawing/2014/main" id="{7A8C851B-CAC4-44BD-8965-C30A842A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85950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seed에 따라 색·위치 변경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해상도 320 × 240</a:t>
            </a:r>
          </a:p>
        </p:txBody>
      </p:sp>
      <p:sp>
        <p:nvSpPr>
          <p:cNvPr id="9" name="데이터">
            <a:extLst xmlns:a="http://schemas.openxmlformats.org/drawingml/2006/main">
              <a:ext uri="{FF2B5EF4-FFF2-40B4-BE49-F238E27FC236}">
                <a16:creationId xmlns:a16="http://schemas.microsoft.com/office/drawing/2014/main" id="{0CDD7475-EBD7-4A5C-90B3-68838C7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24125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0" name="RGB 영상과 깊이 배열&#10;장면 정보를 함께 기록">
            <a:extLst xmlns:a="http://schemas.openxmlformats.org/drawingml/2006/main">
              <a:ext uri="{FF2B5EF4-FFF2-40B4-BE49-F238E27FC236}">
                <a16:creationId xmlns:a16="http://schemas.microsoft.com/office/drawing/2014/main" id="{DEF6A6BB-84C9-47C9-BD16-B3A544FA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28925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RGB 영상과 깊이 배열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장면 정보를 함께 기록</a:t>
            </a:r>
          </a:p>
        </p:txBody>
      </p:sp>
      <p:sp>
        <p:nvSpPr>
          <p:cNvPr id="11" name="관찰">
            <a:extLst xmlns:a="http://schemas.openxmlformats.org/drawingml/2006/main">
              <a:ext uri="{FF2B5EF4-FFF2-40B4-BE49-F238E27FC236}">
                <a16:creationId xmlns:a16="http://schemas.microsoft.com/office/drawing/2014/main" id="{A3C0ECC0-FC25-4098-B09D-74975010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관찰</a:t>
            </a:r>
          </a:p>
        </p:txBody>
      </p:sp>
      <p:sp>
        <p:nvSpPr>
          <p:cNvPr id="12" name="seed를 바꿔 비교&#10;카메라 시점도 바꿔보기">
            <a:extLst xmlns:a="http://schemas.openxmlformats.org/drawingml/2006/main">
              <a:ext uri="{FF2B5EF4-FFF2-40B4-BE49-F238E27FC236}">
                <a16:creationId xmlns:a16="http://schemas.microsoft.com/office/drawing/2014/main" id="{5836001B-D8BD-434E-9A8F-D5816D41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71900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seed를 바꿔 비교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카메라 시점도 바꿔보기</a:t>
            </a:r>
          </a:p>
        </p:txBody>
      </p:sp>
      <p:sp>
        <p:nvSpPr>
          <p:cNvPr id="13" name="공식 데이터 생성 참고 화면. 이번 예제는 상자 장면을 촬영한다">
            <a:extLst xmlns:a="http://schemas.openxmlformats.org/drawingml/2006/main">
              <a:ext uri="{FF2B5EF4-FFF2-40B4-BE49-F238E27FC236}">
                <a16:creationId xmlns:a16="http://schemas.microsoft.com/office/drawing/2014/main" id="{7B4CAD90-40F0-4998-B309-C515125E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공식 데이터 생성 참고 화면. 이번 예제는 상자 장면을 촬영한다.</a:t>
            </a:r>
          </a:p>
        </p:txBody>
      </p:sp>
    </p:spTree>
    <p:extLst>
      <p:ext uri="{BB962C8B-B14F-4D97-AF65-F5344CB8AC3E}">
        <p14:creationId xmlns:p14="http://schemas.microsoft.com/office/powerpoint/2010/main" val="1561778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7BAD4572-7E45-4B2B-A17B-7043FFED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85FD8416-D65E-4ED1-9687-6064E16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D8B79700-55EC-4741-BAF5-F0887B2F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017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2A676619-C066-43B6-87BE-B53A7B35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카메라 촬영 두 번 실행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5FE87030-DB50-4A58-90DF-272CF1A7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9B35AA85-11D2-45D2-8E37-848F5057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62E4BA62-2C23-4D35-AB33-08A5E94F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.\examples\02_camera_capture.py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--seed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$py .\examples\02_camera_capture.py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--seed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explorer .\outputs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C117C975-5AE5-48F1-B35A-DBA62614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examples/02_camera_capture.py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--seed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"$PY" examples/02_camera_capture.py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--seed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xdg-open ./outputs</a:t>
            </a:r>
          </a:p>
        </p:txBody>
      </p:sp>
      <p:sp>
        <p:nvSpPr>
          <p:cNvPr id="10" name="02_camera 폴더 두 개의 RGB에서 상자 위치와 색을 비">
            <a:extLst xmlns:a="http://schemas.openxmlformats.org/drawingml/2006/main">
              <a:ext uri="{FF2B5EF4-FFF2-40B4-BE49-F238E27FC236}">
                <a16:creationId xmlns:a16="http://schemas.microsoft.com/office/drawing/2014/main" id="{2AB979CC-7447-48F7-A3D8-EA8F593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02_camera 폴더 두 개의 RGB에서 상자 위치와 색을 비교</a:t>
            </a:r>
          </a:p>
        </p:txBody>
      </p:sp>
      <p:sp>
        <p:nvSpPr>
          <p:cNvPr id="11" name="두 실행을 순서대로 진행한다. 카메라 실습에도 RTX GPU가 ">
            <a:extLst xmlns:a="http://schemas.openxmlformats.org/drawingml/2006/main">
              <a:ext uri="{FF2B5EF4-FFF2-40B4-BE49-F238E27FC236}">
                <a16:creationId xmlns:a16="http://schemas.microsoft.com/office/drawing/2014/main" id="{6A67B36E-F0D9-4D49-A8BC-42074BA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두 실행을 순서대로 진행한다. 카메라 실습에도 RTX GPU가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6137737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4EC8894E-18AA-4442-9AA3-0C2B93CC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B5C65344-7F7C-468F-9669-2922F85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371DEC0F-EF22-4F45-82F1-A5C1762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018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13E913F4-9DD5-4148-AE96-336CDEB1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카메라 출력 파일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233D5-B9AC-4432-867F-D860348CF46C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590800"/>
                <a:gridCol w="3286125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확인할 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rgb.png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렌더링한 색 영상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상자·바닥이 보이는가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depth_m.npy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깊이 원본 배열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단위 m, 이미지 평면까지 거리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depth_preview.png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0~5 m 보기용 영상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거리 분석에는 NPY 사용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scene_metadata.json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seed·색·위치·해상도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영상과 같은 실행 폴더인가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scene.usda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카메라를 포함한 장면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시점을 바꿔 다시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320 × 240과 깊이 단위를 기록한다. 이 실습은 데이터를 ">
            <a:extLst xmlns:a="http://schemas.openxmlformats.org/drawingml/2006/main">
              <a:ext uri="{FF2B5EF4-FFF2-40B4-BE49-F238E27FC236}">
                <a16:creationId xmlns:a16="http://schemas.microsoft.com/office/drawing/2014/main" id="{12EBAB17-AC14-4078-8A6F-00254B29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320 × 240과 깊이 단위를 기록한다. 이 실습은 데이터를 생성하며 VLM 모델은 실행하지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677787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7D244AAF-2EA6-4867-86A4-E1BE8792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11EBAC6B-2DB6-4F88-B26C-C035469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E05F8648-CE73-45BF-BF51-38E69670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019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813A33CC-2ECA-4402-9C4C-908B99A9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 3 · 보상 계산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3E9AF218-7656-4E6A-ACA3-81E7FBC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732198AD-32AA-45FD-A5C0-8C1087CA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B3A8F8DB-F622-4AD4-B0F8-029B3E3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C:\isaac-course\windows_lab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 -3.12 .\examples\03_reward_design.py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Get-Content .\outputs\reward_examples.csv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DBDAC8B6-1E11-49B8-B6AC-9A2AC9D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"$HOME/pa-course/windows_lab"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python3.12 examples/03_reward_design.py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cat outputs/reward_examples.csv</a:t>
            </a:r>
          </a:p>
        </p:txBody>
      </p:sp>
      <p:sp>
        <p:nvSpPr>
          <p:cNvPr id="10" name="Self-check passed와 사례별 보상 표가 출력">
            <a:extLst xmlns:a="http://schemas.openxmlformats.org/drawingml/2006/main">
              <a:ext uri="{FF2B5EF4-FFF2-40B4-BE49-F238E27FC236}">
                <a16:creationId xmlns:a16="http://schemas.microsoft.com/office/drawing/2014/main" id="{2E275122-A447-4570-A7B3-4155056F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Self-check passed와 사례별 보상 표가 출력</a:t>
            </a:r>
          </a:p>
        </p:txBody>
      </p:sp>
      <p:sp>
        <p:nvSpPr>
          <p:cNvPr id="11" name="이 예제는 Python만 사용한다. GPU·Sim 설치 없이도 ">
            <a:extLst xmlns:a="http://schemas.openxmlformats.org/drawingml/2006/main">
              <a:ext uri="{FF2B5EF4-FFF2-40B4-BE49-F238E27FC236}">
                <a16:creationId xmlns:a16="http://schemas.microsoft.com/office/drawing/2014/main" id="{0F34F055-CAF5-4A5A-83DC-EF2A23FE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이 예제는 Python만 사용한다. GPU·Sim 설치 없이도 실행할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5241688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73277F07-7BBF-4EE6-A542-5D55786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B42E71EC-3B3B-4BD4-BE0A-FE6F1CD0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4DDED23B-8684-4789-9456-2F3C691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020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A1F01A30-C7D0-4CD5-9C29-BA8390F7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보상 값과 편법 행동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D6C5D-5DC5-42B4-89B2-AE8D2CF14B41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43000"/>
                <a:gridCol w="4400550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생각할 문제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0.1초 동안 0.2 m 접근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0.399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계산식에서 거리 항은 얼마인가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0.1초 동안 0.2 m 후퇴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−0.401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왕복하면 점수가 남는가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0.1초 동안 정지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−0.001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 비용이 없다면 어떤가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 m 접근하며 도착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10.399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도착 보상을 계속 주면 어떤가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 m 접근하며 충돌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−19.601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충돌 벌점이 너무 작다면?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보상 = 2 × (이전 거리 − 현재 거리) − 0.01 × d">
            <a:extLst xmlns:a="http://schemas.openxmlformats.org/drawingml/2006/main">
              <a:ext uri="{FF2B5EF4-FFF2-40B4-BE49-F238E27FC236}">
                <a16:creationId xmlns:a16="http://schemas.microsoft.com/office/drawing/2014/main" id="{72E9FDBA-B86C-40B6-B6F2-A7B63EBF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보상 = 2 × (이전 거리 − 현재 거리) − 0.01 × dt + 도착 또는 충돌 항</a:t>
            </a:r>
          </a:p>
        </p:txBody>
      </p:sp>
    </p:spTree>
    <p:extLst>
      <p:ext uri="{BB962C8B-B14F-4D97-AF65-F5344CB8AC3E}">
        <p14:creationId xmlns:p14="http://schemas.microsoft.com/office/powerpoint/2010/main" val="17480757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DAC18CF2-A60D-4DCB-A67C-73B6A9C4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95616FCA-7314-4C2D-81F4-68D0CE1F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1A3B575F-A350-4EAA-9B1B-A1A12ABA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021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7549E9E4-1C0F-44DE-B728-5A8AD17E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 4 · Cartpole 정책 학습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C31F4-5E23-4133-8A9D-D3057DF1D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9ad1f6cbd4b01"/>
          <a:stretch xmlns:a="http://schemas.openxmlformats.org/drawingml/2006/main"/>
        </p:blipFill>
        <p:spPr>
          <a:xfrm xmlns:a="http://schemas.openxmlformats.org/drawingml/2006/main">
            <a:off x="609600" y="1663898"/>
            <a:ext cx="4667250" cy="2625328"/>
          </a:xfrm>
          <a:prstGeom xmlns:a="http://schemas.openxmlformats.org/drawingml/2006/main" prst="rect">
            <a:avLst/>
          </a:prstGeom>
        </p:spPr>
      </p:pic>
      <p:sp>
        <p:nvSpPr>
          <p:cNvPr id="7" name="관측과 행동">
            <a:extLst xmlns:a="http://schemas.openxmlformats.org/drawingml/2006/main">
              <a:ext uri="{FF2B5EF4-FFF2-40B4-BE49-F238E27FC236}">
                <a16:creationId xmlns:a16="http://schemas.microsoft.com/office/drawing/2014/main" id="{4FF84D91-D311-4C0E-9F4A-5EFD9B8B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81150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관측과 행동</a:t>
            </a:r>
          </a:p>
        </p:txBody>
      </p:sp>
      <p:sp>
        <p:nvSpPr>
          <p:cNvPr id="8" name="수레·막대의 위치와 속도&#10;수레에 가하는 힘">
            <a:extLst xmlns:a="http://schemas.openxmlformats.org/drawingml/2006/main">
              <a:ext uri="{FF2B5EF4-FFF2-40B4-BE49-F238E27FC236}">
                <a16:creationId xmlns:a16="http://schemas.microsoft.com/office/drawing/2014/main" id="{745FC579-600C-4516-8F2A-3E835965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85950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수레·막대의 위치와 속도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수레에 가하는 힘</a:t>
            </a:r>
          </a:p>
        </p:txBody>
      </p:sp>
      <p:sp>
        <p:nvSpPr>
          <p:cNvPr id="9" name="학습">
            <a:extLst xmlns:a="http://schemas.openxmlformats.org/drawingml/2006/main">
              <a:ext uri="{FF2B5EF4-FFF2-40B4-BE49-F238E27FC236}">
                <a16:creationId xmlns:a16="http://schemas.microsoft.com/office/drawing/2014/main" id="{87111CEF-9075-4CFF-81A0-6FAAF5C0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24125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학습</a:t>
            </a:r>
          </a:p>
        </p:txBody>
      </p:sp>
      <p:sp>
        <p:nvSpPr>
          <p:cNvPr id="10" name="RSL-RL의 PPO&#10;환경 1개부터 실행">
            <a:extLst xmlns:a="http://schemas.openxmlformats.org/drawingml/2006/main">
              <a:ext uri="{FF2B5EF4-FFF2-40B4-BE49-F238E27FC236}">
                <a16:creationId xmlns:a16="http://schemas.microsoft.com/office/drawing/2014/main" id="{81C2767E-2AB9-4B89-961F-501F4E1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28925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RSL-RL의 PPO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환경 1개부터 실행</a:t>
            </a:r>
          </a:p>
        </p:txBody>
      </p:sp>
      <p:sp>
        <p:nvSpPr>
          <p:cNvPr id="11" name="비교">
            <a:extLst xmlns:a="http://schemas.openxmlformats.org/drawingml/2006/main">
              <a:ext uri="{FF2B5EF4-FFF2-40B4-BE49-F238E27FC236}">
                <a16:creationId xmlns:a16="http://schemas.microsoft.com/office/drawing/2014/main" id="{767E4BAE-E699-4FEB-95A3-1C908F8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02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12" name="무작위 행동&#10;학습한 정책 재생">
            <a:extLst xmlns:a="http://schemas.openxmlformats.org/drawingml/2006/main">
              <a:ext uri="{FF2B5EF4-FFF2-40B4-BE49-F238E27FC236}">
                <a16:creationId xmlns:a16="http://schemas.microsoft.com/office/drawing/2014/main" id="{55A36FCA-B5F2-4CC6-B7FA-4DA8CDAF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71900"/>
            <a:ext cx="302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무작위 행동</a:t>
            </a:r>
          </a:p>
          <a:p xmlns:a="http://schemas.openxmlformats.org/drawingml/2006/main">
            <a:pPr>
              <a:def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학습한 정책 재생</a:t>
            </a:r>
          </a:p>
        </p:txBody>
      </p:sp>
      <p:sp>
        <p:nvSpPr>
          <p:cNvPr id="13" name="공식 과제 참고 화면. 수업의 실행 화면은 설치한 EA 버전에서">
            <a:extLst xmlns:a="http://schemas.openxmlformats.org/drawingml/2006/main">
              <a:ext uri="{FF2B5EF4-FFF2-40B4-BE49-F238E27FC236}">
                <a16:creationId xmlns:a16="http://schemas.microsoft.com/office/drawing/2014/main" id="{5A524BCB-AF7B-48E6-BA91-B3C7A15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28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공식 과제 참고 화면. 수업의 실행 화면은 설치한 EA 버전에서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2112616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4070DEAB-083C-4A2B-ABE3-690CB259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1DC11339-E97A-465E-B027-F5E21399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89F55463-40E8-47A2-A631-F4B7A84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022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29FF7DFE-79AD-4F9C-A930-5ED93BEF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Isaac Lab 고정 버전 받기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4D2F73A6-83B1-4891-A1E3-B1D4C4C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108DB15F-154D-464B-9F88-0B9767CC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9B868250-F6E6-4F7C-94CF-0884201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C:\isaac-course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$repo = 'https://github.com/isaac-sim/'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$repo += 'IsaacLab.git'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git clone --depth 1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--branch v3.0.0-EA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$repo IsaacLab-6.1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.\IsaacLab-6.1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git rev-parse HEAD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445B3F56-19D3-47BD-9DF2-5915194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"$HOME/pa-course"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REPO='https://github.com/isaac-sim/'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REPO+="IsaacLab.git"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git clone --depth 1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--branch v3.0.0-EA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"$REPO" IsaacLab-6.1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IsaacLab-6.1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git rev-parse HEAD</a:t>
            </a:r>
          </a:p>
        </p:txBody>
      </p:sp>
      <p:sp>
        <p:nvSpPr>
          <p:cNvPr id="10" name="v3.0.0-EA 저장소를 별도 폴더에 받는다.">
            <a:extLst xmlns:a="http://schemas.openxmlformats.org/drawingml/2006/main">
              <a:ext uri="{FF2B5EF4-FFF2-40B4-BE49-F238E27FC236}">
                <a16:creationId xmlns:a16="http://schemas.microsoft.com/office/drawing/2014/main" id="{3AB57A54-AA1D-4E34-88AF-2752572F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v3.0.0-EA 저장소를 별도 폴더에 받는다.</a:t>
            </a:r>
          </a:p>
        </p:txBody>
      </p:sp>
      <p:sp>
        <p:nvSpPr>
          <p:cNvPr id="11" name="폴더가 이미 있거나 clone이 실패하면 멈추고 기존 버전부터 ">
            <a:extLst xmlns:a="http://schemas.openxmlformats.org/drawingml/2006/main">
              <a:ext uri="{FF2B5EF4-FFF2-40B4-BE49-F238E27FC236}">
                <a16:creationId xmlns:a16="http://schemas.microsoft.com/office/drawing/2014/main" id="{BBC4CC6A-53B8-428E-BF78-621E59F4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폴더가 이미 있거나 clone이 실패하면 멈추고 기존 버전부터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6404601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7AA24F7B-0F49-449A-99A1-4F6D4BD3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DD158E99-4843-4BB9-B2AD-EDB6F144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750D3A22-2EF8-47C4-B11E-0DD14D18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023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D35972EC-A918-495D-9E1E-705C9120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커밋 확인과 Lab 환경 설치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1D2551A3-136C-42E8-B8EE-1E790D64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B73020EA-027C-4CF7-86BA-A0C8263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19992CA4-788A-4960-A25D-6F0AD12C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$pin = 'ae37b028ea415c91ea2b'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$pin += 'c32609efcd759ed2b974'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if ((git rev-parse HEAD) -ne $pin) {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throw '수업 기준 커밋과 다릅니다.'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}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sync --frozen --extra isaacsim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76752910-B618-4491-9E5D-B1A590D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PIN='ae37b028ea415c91ea2b'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PIN+='c32609efcd759ed2b974'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test "$(git rev-parse HEAD)" = "$PIN"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|| exit 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13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sync --frozen --extra isaacsim</a:t>
            </a:r>
          </a:p>
        </p:txBody>
      </p:sp>
      <p:sp>
        <p:nvSpPr>
          <p:cNvPr id="10" name="커밋 일치 후 uv sync가 오류 없이 종료되어야 한다.">
            <a:extLst xmlns:a="http://schemas.openxmlformats.org/drawingml/2006/main">
              <a:ext uri="{FF2B5EF4-FFF2-40B4-BE49-F238E27FC236}">
                <a16:creationId xmlns:a16="http://schemas.microsoft.com/office/drawing/2014/main" id="{4C0DB5E9-B98B-48EA-8A00-230B648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커밋 일치 후 uv sync가 오류 없이 종료되어야 한다.</a:t>
            </a:r>
          </a:p>
        </p:txBody>
      </p:sp>
      <p:sp>
        <p:nvSpPr>
          <p:cNvPr id="11" name="Lab 폴더의 .venv에 Sim 6.1을 별도로 설치한다. u">
            <a:extLst xmlns:a="http://schemas.openxmlformats.org/drawingml/2006/main">
              <a:ext uri="{FF2B5EF4-FFF2-40B4-BE49-F238E27FC236}">
                <a16:creationId xmlns:a16="http://schemas.microsoft.com/office/drawing/2014/main" id="{7A933982-E75F-4D84-A97F-E96CF37C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Lab 폴더의 .venv에 Sim 6.1을 별도로 설치한다. uv.lock을 갱신하지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973631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42A3B1F8-5601-4CDC-9064-7D58398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E750185E-B050-4D05-8593-850A49B5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4FB4DFC9-B566-4F52-BDDD-BC6A3F0A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024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ADEC8C75-3010-412A-BD32-AE095726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Lab의 Sim 버전과 과제 확인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A615D1E7-BE02-4D1A-AEFA-1DA2731B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67C075CC-D137-47F2-85A0-776E4291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54EC1CC2-3B6D-478C-948A-30575D9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C:\isaac-course\IsaacLab-6.1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$check = 'from importlib.metadata 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$check += 'import version; 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$check += "print(version('isaacsim'))"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python -c $check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list_envs --show_presets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B5F187D8-553E-4E6E-A70A-39B36532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"$HOME/pa-course/IsaacLab-6.1"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CHECK='from importlib.metadata 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CHECK+='import version; '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CHECK+="print(version('isaacsim'))"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python -c "$CHECK"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list_envs --show_presets</a:t>
            </a:r>
          </a:p>
        </p:txBody>
      </p:sp>
      <p:sp>
        <p:nvSpPr>
          <p:cNvPr id="10" name="버전 6.1.0.0과 Isaac-Cartpole 과제를 확인">
            <a:extLst xmlns:a="http://schemas.openxmlformats.org/drawingml/2006/main">
              <a:ext uri="{FF2B5EF4-FFF2-40B4-BE49-F238E27FC236}">
                <a16:creationId xmlns:a16="http://schemas.microsoft.com/office/drawing/2014/main" id="{FE3612A6-2B12-45EC-84DF-5F92C127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버전 6.1.0.0과 Isaac-Cartpole 과제를 확인</a:t>
            </a:r>
          </a:p>
        </p:txBody>
      </p:sp>
      <p:sp>
        <p:nvSpPr>
          <p:cNvPr id="11" name="목록 조회는 환경 점검이다. 실제 물리·학습은 다음 단계에서 확">
            <a:extLst xmlns:a="http://schemas.openxmlformats.org/drawingml/2006/main">
              <a:ext uri="{FF2B5EF4-FFF2-40B4-BE49-F238E27FC236}">
                <a16:creationId xmlns:a16="http://schemas.microsoft.com/office/drawing/2014/main" id="{90E884C9-7992-43C1-90AE-9562D0CA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목록 조회는 환경 점검이다. 실제 물리·학습은 다음 단계에서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2399876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6815F360-7308-4EAE-ADF0-3DB4182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74EB3952-D3A6-4203-B055-0E4D0E0A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C78098C4-2CB3-434F-9928-6372E43F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025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CA17933D-01EC-4DD0-96CB-8F60ABC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Cartpole 무작위 행동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D2C9EE68-DF46-485C-A3AB-897ADBD8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6FA81977-4144-4018-8179-BE1490C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5097EEDF-5BBC-4E19-B8CB-CF5C6B9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random_agent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kit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46A506FB-14C2-452E-9B2D-A9DF0D6D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random_agent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kit</a:t>
            </a:r>
          </a:p>
        </p:txBody>
      </p:sp>
      <p:sp>
        <p:nvSpPr>
          <p:cNvPr id="10" name="수레·막대 1개의 움직임과 초기화를 관찰">
            <a:extLst xmlns:a="http://schemas.openxmlformats.org/drawingml/2006/main">
              <a:ext uri="{FF2B5EF4-FFF2-40B4-BE49-F238E27FC236}">
                <a16:creationId xmlns:a16="http://schemas.microsoft.com/office/drawing/2014/main" id="{EFE59F06-A478-48C6-9F5C-DF0F901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수레·막대 1개의 움직임과 초기화를 관찰</a:t>
            </a:r>
          </a:p>
        </p:txBody>
      </p:sp>
      <p:sp>
        <p:nvSpPr>
          <p:cNvPr id="11" name="학습된 정책이 아니다. 창을 닫거나 Ctrl+C로 종료한 뒤 다">
            <a:extLst xmlns:a="http://schemas.openxmlformats.org/drawingml/2006/main">
              <a:ext uri="{FF2B5EF4-FFF2-40B4-BE49-F238E27FC236}">
                <a16:creationId xmlns:a16="http://schemas.microsoft.com/office/drawing/2014/main" id="{1538C96E-AFC1-401A-AAE4-3A566DD1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학습된 정책이 아니다. 창을 닫거나 Ctrl+C로 종료한 뒤 다음 단계로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17840480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9AB6981E-34FD-4D67-A9A7-8D77120A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540D2B52-F98E-4AA8-9AA0-28AD244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C84642B5-E52E-4D94-A3EF-41A92EF1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026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FACF43F4-AD3D-45D8-B78A-3484349F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PPO 학습 실행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B9984D80-9F61-4800-A99B-3DDA3728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DF5F5142-C728-4A5F-923B-BD362EEB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2A9EE057-1D80-4482-8F82-ECC3357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train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--rl_library rsl_rl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1 --seed 42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--max_iterations 300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kit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2277B127-A424-4BF6-AB99-EF2050B0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train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--rl_library rsl_rl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1 --seed 42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--max_iterations 300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kit</a:t>
            </a:r>
          </a:p>
        </p:txBody>
      </p:sp>
      <p:sp>
        <p:nvSpPr>
          <p:cNvPr id="10" name="logs 아래 학습 로그와 체크포인트가 저장되는지 확인">
            <a:extLst xmlns:a="http://schemas.openxmlformats.org/drawingml/2006/main">
              <a:ext uri="{FF2B5EF4-FFF2-40B4-BE49-F238E27FC236}">
                <a16:creationId xmlns:a16="http://schemas.microsoft.com/office/drawing/2014/main" id="{7F1640E6-4BA6-4D70-A8A8-15113EB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logs 아래 학습 로그와 체크포인트가 저장되는지 확인</a:t>
            </a:r>
          </a:p>
        </p:txBody>
      </p:sp>
      <p:sp>
        <p:nvSpPr>
          <p:cNvPr id="11" name="300은 갱신 횟수다. 수렴·균형 성공을 보장하지 않으므로 실제">
            <a:extLst xmlns:a="http://schemas.openxmlformats.org/drawingml/2006/main">
              <a:ext uri="{FF2B5EF4-FFF2-40B4-BE49-F238E27FC236}">
                <a16:creationId xmlns:a16="http://schemas.microsoft.com/office/drawing/2014/main" id="{FDD034AC-419D-45EC-A543-AB4E6A8D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300은 갱신 횟수다. 수렴·균형 성공을 보장하지 않으므로 실제 결과를 기록한다.</a:t>
            </a:r>
          </a:p>
        </p:txBody>
      </p:sp>
    </p:spTree>
    <p:extLst>
      <p:ext uri="{BB962C8B-B14F-4D97-AF65-F5344CB8AC3E}">
        <p14:creationId xmlns:p14="http://schemas.microsoft.com/office/powerpoint/2010/main" val="5936102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C2DD4756-A080-47AD-9741-A9F4D597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EF16219A-FDEE-4E91-8832-ED79B6F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608893EB-1991-447F-B6C3-60EB2F16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027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4E4D23B5-D98E-46A8-AD65-BC8ED6F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학습한 정책 재생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8D5902A2-528D-41A7-9C29-B40D3E0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AFEF7A85-9300-4AD8-8FA9-94B3AAE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3B1E93D4-EAED-4591-B110-7FD842F2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play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--rl_library rsl_rl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1 --seed 123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--checkpoint latest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kit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08B0E0C7-ED17-4069-8AF3-1A6D4D0E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play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--rl_library rsl_rl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1 --seed 123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--checkpoint latest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kit</a:t>
            </a:r>
          </a:p>
        </p:txBody>
      </p:sp>
      <p:sp>
        <p:nvSpPr>
          <p:cNvPr id="10" name="학습 전과 균형 유지·초기화·카트 위치를 비교">
            <a:extLst xmlns:a="http://schemas.openxmlformats.org/drawingml/2006/main">
              <a:ext uri="{FF2B5EF4-FFF2-40B4-BE49-F238E27FC236}">
                <a16:creationId xmlns:a16="http://schemas.microsoft.com/office/drawing/2014/main" id="{0EACFC62-F750-4A29-98DB-48332E16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학습 전과 균형 유지·초기화·카트 위치를 비교</a:t>
            </a:r>
          </a:p>
        </p:txBody>
      </p:sp>
      <p:sp>
        <p:nvSpPr>
          <p:cNvPr id="11" name="latest는 호환되는 최근 실행을 선택한다. 실제 체크포인트 ">
            <a:extLst xmlns:a="http://schemas.openxmlformats.org/drawingml/2006/main">
              <a:ext uri="{FF2B5EF4-FFF2-40B4-BE49-F238E27FC236}">
                <a16:creationId xmlns:a16="http://schemas.microsoft.com/office/drawing/2014/main" id="{0189002D-80C6-4A7D-A18C-2774C87B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latest는 호환되는 최근 실행을 선택한다. 실제 체크포인트 경로를 따로 기록한다.</a:t>
            </a:r>
          </a:p>
        </p:txBody>
      </p:sp>
    </p:spTree>
    <p:extLst>
      <p:ext uri="{BB962C8B-B14F-4D97-AF65-F5344CB8AC3E}">
        <p14:creationId xmlns:p14="http://schemas.microsoft.com/office/powerpoint/2010/main" val="10873062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046881A7-1D34-4B83-94CA-067428F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6B0E431E-CDD3-40DE-BFEC-862F858F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DFEDDB25-DD98-457A-A2D6-FAAE04E0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028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54680C25-AF49-4034-9AEF-7015ECD5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화면 없이 학습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5ED35149-E479-4645-BF23-546EE110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CA8BD81B-2D5B-4A2F-87EE-6BD2F18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03D089CD-B082-4E39-BD3C-E12D5685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train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--rl_library rsl_rl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1 --seed 42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--max_iterations 300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none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C6B1EDB1-2E9A-427C-9973-54B63F9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uv run --frozen --extra isaacsim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isaaclab train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--rl_library rsl_rl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--task Isaac-Cartpole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--num_envs 1 --seed 42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--max_iterations 300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physics=isaacsim_physx --viz none</a:t>
            </a:r>
          </a:p>
        </p:txBody>
      </p:sp>
      <p:sp>
        <p:nvSpPr>
          <p:cNvPr id="10" name="창 없이 학습 로그가 진행되는지 확인">
            <a:extLst xmlns:a="http://schemas.openxmlformats.org/drawingml/2006/main">
              <a:ext uri="{FF2B5EF4-FFF2-40B4-BE49-F238E27FC236}">
                <a16:creationId xmlns:a16="http://schemas.microsoft.com/office/drawing/2014/main" id="{61B22D6A-800F-4934-848B-95AF4336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창 없이 학습 로그가 진행되는지 확인</a:t>
            </a:r>
          </a:p>
        </p:txBody>
      </p:sp>
      <p:sp>
        <p:nvSpPr>
          <p:cNvPr id="11" name="none은 화면 생략이다. GPU는 필요하며 환경 수를 줄이면 ">
            <a:extLst xmlns:a="http://schemas.openxmlformats.org/drawingml/2006/main">
              <a:ext uri="{FF2B5EF4-FFF2-40B4-BE49-F238E27FC236}">
                <a16:creationId xmlns:a16="http://schemas.microsoft.com/office/drawing/2014/main" id="{481A11CB-C3AE-4ABC-8199-D148333F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none은 화면 생략이다. GPU는 필요하며 환경 수를 줄이면 학습 조건도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5209260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7167E802-E290-4F74-88FD-5DDE3802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6A3AE4A1-1989-41D9-8A79-B3F65AC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A96B9525-4B0A-4074-A811-07929894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029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B4BE153D-6234-4F63-9AD6-1C0BDA0B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학습 전후 관찰 기록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85395-F151-4223-9C29-58ED41987ED6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057525"/>
                <a:gridCol w="3057525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무작위 행동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후 정책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균형 유지 경향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직접 기록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직접 기록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실패·초기화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 제한과 실패 구분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관찰 범위로 비교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카트 위치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끝으로 치우치는지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끝으로 치우치는지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조건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환경 수·seed·GPU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갱신 횟수·체크포인트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성과가 개선되지 않아도 그대로 기록한다. 보상 상승만으로 실물 ">
            <a:extLst xmlns:a="http://schemas.openxmlformats.org/drawingml/2006/main">
              <a:ext uri="{FF2B5EF4-FFF2-40B4-BE49-F238E27FC236}">
                <a16:creationId xmlns:a16="http://schemas.microsoft.com/office/drawing/2014/main" id="{F124F99F-D9E5-4568-B264-36FC338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성과가 개선되지 않아도 그대로 기록한다. 보상 상승만으로 실물 배포 가능성을 판단하지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939140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04EEA896-6685-4D86-9038-A1295CBC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5B2B3DCD-7E59-4BAE-A903-6A762292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2C5FC9BD-C283-4CDF-B750-D1FCAE8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030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CF43FA2C-8FCE-4406-933F-BE3CA19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실행이 안 될 때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D7123-E3DE-4968-A89D-98B437B82ECC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028950"/>
                <a:gridCol w="3038475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Windows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Ubuntu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 모듈을 찾지 못함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$py가 simenv Python인가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$PY가 Sim 전용 Python인가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줄 연결 문법 오류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백틱 뒤 공백이 없는가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역슬래시 뒤 공백이 없는가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GPU·RTX 오류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nvidia-smi, 지원 드라이버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nvidia-smi, 데스크톱 세션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Lab 과제·인자 오류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EA 커밋·작업 폴더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EA 커밋·작업 폴더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체크포인트 없음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Train 로그와 실제 파일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Train 로그와 실제 파일 확인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터미널에서 가장 먼저 발생한 오류부터 확인한다. 설치 명령을 반">
            <a:extLst xmlns:a="http://schemas.openxmlformats.org/drawingml/2006/main">
              <a:ext uri="{FF2B5EF4-FFF2-40B4-BE49-F238E27FC236}">
                <a16:creationId xmlns:a16="http://schemas.microsoft.com/office/drawing/2014/main" id="{6765714C-5C38-42D2-B3E2-401CBC8F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터미널에서 가장 먼저 발생한 오류부터 확인한다. 설치 명령을 반복 실행하기 전에 원인을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6694856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012E0FBB-E4C0-4C87-A73C-723747D2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F2C93AB9-04DF-4598-B878-CD33886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1370590C-A19D-4D6A-9803-CD0DD8B2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031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B991BB75-A4AC-4E6F-9892-2E5DA26B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배포 예제 자체 점검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D973A44F-B191-43CF-8EED-2C3F940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025386DC-BDE0-4956-9503-9BFF0F06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9E1B57AC-502D-478E-AD4E-3A90B9EE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C:\isaac-course\windows_lab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 -3.12 .\99_self_check.py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5FC55192-E57A-4490-8725-C54456D0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"$HOME/pa-course/windows_lab"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python3.12 99_self_check.py</a:t>
            </a:r>
          </a:p>
        </p:txBody>
      </p:sp>
      <p:sp>
        <p:nvSpPr>
          <p:cNvPr id="10" name="Python 예제 컴파일과 보상 계산 점검이 PASS인지 확인">
            <a:extLst xmlns:a="http://schemas.openxmlformats.org/drawingml/2006/main">
              <a:ext uri="{FF2B5EF4-FFF2-40B4-BE49-F238E27FC236}">
                <a16:creationId xmlns:a16="http://schemas.microsoft.com/office/drawing/2014/main" id="{76703346-59FD-41E9-A9E5-D825629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Python 예제 컴파일과 보상 계산 점검이 PASS인지 확인</a:t>
            </a:r>
          </a:p>
        </p:txBody>
      </p:sp>
      <p:sp>
        <p:nvSpPr>
          <p:cNvPr id="11" name="이 점검은 Sim 렌더링·물리·Lab 학습의 성공을 판정하지 않">
            <a:extLst xmlns:a="http://schemas.openxmlformats.org/drawingml/2006/main">
              <a:ext uri="{FF2B5EF4-FFF2-40B4-BE49-F238E27FC236}">
                <a16:creationId xmlns:a16="http://schemas.microsoft.com/office/drawing/2014/main" id="{FE2EB426-A4D4-4AF7-8468-33730FB2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이 점검은 Sim 렌더링·물리·Lab 학습의 성공을 판정하지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163327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A5E31EC4-02E9-4888-9A82-AC10DB50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27DD6A40-C2AA-4A2A-B5D4-EEBAEB97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0046C811-F394-4A09-B2A5-F79BC6FA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032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3E7B5957-10F2-444B-84F9-8F509BF0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실습 결과 정리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F06B2-6A9F-4CF6-86C8-0D8F2023C37B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924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190875"/>
                <a:gridCol w="3495675"/>
              </a:tblGrid>
              <a:tr h="333375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보관할 파일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함께 기록할 조건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T w="5715">
                      <a:solidFill>
                        <a:srgbClr val="CFCFCF"/>
                      </a:solidFill>
                      <a:prstDash val="solid"/>
                    </a:lnT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heights.csv / initial_scene.usda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높이·중력·접촉 시각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RGB 2장 / 깊이 / 메타데이터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seed·해상도·카메라 시점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reward_examples.csv / 답안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계산·편법 행동 설명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강화학습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CFCF"/>
                      </a:solidFill>
                      <a:prstDash val="solid"/>
                    </a:lnL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로그 / 체크포인트 / 관찰표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57150" rIns="85725" bIns="57150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3333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버전·커밋·GPU·seed·환경 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CFCF"/>
                      </a:solidFill>
                      <a:prstDash val="solid"/>
                    </a:lnR>
                    <a:lnB w="571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실행 명령은 실습 ZIP의 RUN_COMMANDS.md, 문제와">
            <a:extLst xmlns:a="http://schemas.openxmlformats.org/drawingml/2006/main">
              <a:ext uri="{FF2B5EF4-FFF2-40B4-BE49-F238E27FC236}">
                <a16:creationId xmlns:a16="http://schemas.microsoft.com/office/drawing/2014/main" id="{B178FC18-7933-4DD2-B1BD-DC1EAAD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실행 명령은 실습 ZIP의 RUN_COMMANDS.md, 문제와 기록 양식은 EXERCISES.md에 있다.</a:t>
            </a:r>
          </a:p>
        </p:txBody>
      </p:sp>
    </p:spTree>
    <p:extLst>
      <p:ext uri="{BB962C8B-B14F-4D97-AF65-F5344CB8AC3E}">
        <p14:creationId xmlns:p14="http://schemas.microsoft.com/office/powerpoint/2010/main" val="8236075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v.2 06 Nav2">
            <a:extLst xmlns:a="http://schemas.openxmlformats.org/drawingml/2006/main">
              <a:ext uri="{FF2B5EF4-FFF2-40B4-BE49-F238E27FC236}">
                <a16:creationId xmlns:a16="http://schemas.microsoft.com/office/drawing/2014/main" id="{5C29F4C2-0782-4116-A0DA-4489A8B9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737373"/>
                </a:solidFill>
                <a:latin typeface="Pretendard"/>
                <a:ea typeface="Pretendard"/>
                <a:cs typeface="Pretendard"/>
              </a:rPr>
              <a:t>Physical AI Isaac 실습</a:t>
            </a:r>
          </a:p>
        </p:txBody>
      </p:sp>
      <p:sp>
        <p:nvSpPr>
          <p:cNvPr id="3" name="KANT">
            <a:extLst xmlns:a="http://schemas.openxmlformats.org/drawingml/2006/main">
              <a:ext uri="{FF2B5EF4-FFF2-40B4-BE49-F238E27FC236}">
                <a16:creationId xmlns:a16="http://schemas.microsoft.com/office/drawing/2014/main" id="{7EA5E16C-8D19-4502-BA87-A3E6B9F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KANT</a:t>
            </a:r>
          </a:p>
        </p:txBody>
      </p:sp>
      <p:sp>
        <p:nvSpPr>
          <p:cNvPr id="4" name="005">
            <a:extLst xmlns:a="http://schemas.openxmlformats.org/drawingml/2006/main">
              <a:ext uri="{FF2B5EF4-FFF2-40B4-BE49-F238E27FC236}">
                <a16:creationId xmlns:a16="http://schemas.microsoft.com/office/drawing/2014/main" id="{04E64BA4-AE5C-4F23-AC96-FA5AC744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033</a:t>
            </a:r>
          </a:p>
        </p:txBody>
      </p:sp>
      <p:sp>
        <p:nvSpPr>
          <p:cNvPr id="5" name="TurtleBot3 Waffle">
            <a:extLst xmlns:a="http://schemas.openxmlformats.org/drawingml/2006/main">
              <a:ext uri="{FF2B5EF4-FFF2-40B4-BE49-F238E27FC236}">
                <a16:creationId xmlns:a16="http://schemas.microsoft.com/office/drawing/2014/main" id="{56042207-5307-4FC5-8FA1-5E9EA84F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61616"/>
                </a:solidFill>
                <a:latin typeface="Pretendard"/>
                <a:ea typeface="Pretendard"/>
                <a:cs typeface="Pretendard"/>
              </a:rPr>
              <a:t>부록 · 기존 Workstation 설치 사용</a:t>
            </a:r>
          </a:p>
        </p:txBody>
      </p:sp>
      <p:sp>
        <p:nvSpPr>
          <p:cNvPr id="6" name="Windows 11 · PowerShell">
            <a:extLst xmlns:a="http://schemas.openxmlformats.org/drawingml/2006/main">
              <a:ext uri="{FF2B5EF4-FFF2-40B4-BE49-F238E27FC236}">
                <a16:creationId xmlns:a16="http://schemas.microsoft.com/office/drawing/2014/main" id="{0B6073A3-F454-48F6-876D-D70FDB8C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Windows 11 · PowerShell</a:t>
            </a:r>
          </a:p>
        </p:txBody>
      </p:sp>
      <p:sp>
        <p:nvSpPr>
          <p:cNvPr id="7" name="Ubuntu 24.04 · Bash">
            <a:extLst xmlns:a="http://schemas.openxmlformats.org/drawingml/2006/main">
              <a:ext uri="{FF2B5EF4-FFF2-40B4-BE49-F238E27FC236}">
                <a16:creationId xmlns:a16="http://schemas.microsoft.com/office/drawing/2014/main" id="{78DE8BE9-8744-45C2-8D9B-5AFF832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95425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Ubuntu 24.04 · Bash</a:t>
            </a:r>
          </a:p>
        </p:txBody>
      </p:sp>
      <p:sp>
        <p:nvSpPr>
          <p:cNvPr id="8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364766FA-D550-406E-9CDB-BD1AA3C4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810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아래 경로를 실제 6.1 설치 위치로 변경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Set-Location C:\isaac-course\windows_lab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&amp; 'C:\isaacsim\python.bat' `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.\examples\01_drop_cubes.py</a:t>
            </a:r>
          </a:p>
        </p:txBody>
      </p:sp>
      <p:sp>
        <p:nvSpPr>
          <p:cNvPr id="9" name="ubuntu-command">
            <a:extLst xmlns:a="http://schemas.openxmlformats.org/drawingml/2006/main">
              <a:ext uri="{FF2B5EF4-FFF2-40B4-BE49-F238E27FC236}">
                <a16:creationId xmlns:a16="http://schemas.microsoft.com/office/drawing/2014/main" id="{38531A9A-7D5A-4DDA-AFC2-A2D9F5BA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# 아래 경로를 실제 6.1 설치 위치로 변경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cd "$HOME/pa-course/windows_lab"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"$HOME/isaacsim/python.sh" \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388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 examples/01_drop_cubes.py</a:t>
            </a:r>
          </a:p>
        </p:txBody>
      </p:sp>
      <p:sp>
        <p:nvSpPr>
          <p:cNvPr id="10" name="기존 Sim 6.1의 Python 런처로 같은 예제를 실행">
            <a:extLst xmlns:a="http://schemas.openxmlformats.org/drawingml/2006/main">
              <a:ext uri="{FF2B5EF4-FFF2-40B4-BE49-F238E27FC236}">
                <a16:creationId xmlns:a16="http://schemas.microsoft.com/office/drawing/2014/main" id="{C468F753-EBDA-49D4-923F-C5093A22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기존 Sim 6.1의 Python 런처로 같은 예제를 실행</a:t>
            </a:r>
          </a:p>
        </p:txBody>
      </p:sp>
      <p:sp>
        <p:nvSpPr>
          <p:cNvPr id="11" name="경로는 예시다. Lab은 앞서 안내한 별도 uv 환경을 그대로 ">
            <a:extLst xmlns:a="http://schemas.openxmlformats.org/drawingml/2006/main">
              <a:ext uri="{FF2B5EF4-FFF2-40B4-BE49-F238E27FC236}">
                <a16:creationId xmlns:a16="http://schemas.microsoft.com/office/drawing/2014/main" id="{2A7F3C27-4090-476A-8C71-B99BDC24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경로는 예시다. Lab은 앞서 안내한 별도 uv 환경을 그대로 사용한다.</a:t>
            </a:r>
          </a:p>
        </p:txBody>
      </p:sp>
    </p:spTree>
    <p:extLst>
      <p:ext uri="{BB962C8B-B14F-4D97-AF65-F5344CB8AC3E}">
        <p14:creationId xmlns:p14="http://schemas.microsoft.com/office/powerpoint/2010/main" val="142850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2026-10-19T04:56:18.1910000Z</dcterms:created>
  <dcterms:modified xsi:type="dcterms:W3CDTF">2026-10-19T04:56:18.1910000Z</dcterms:modified>
</coreProperties>
</file>